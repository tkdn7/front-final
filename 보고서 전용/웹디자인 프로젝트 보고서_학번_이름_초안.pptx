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58835b99bc14915" /><Relationship Type="http://schemas.openxmlformats.org/officeDocument/2006/relationships/extended-properties" Target="/docProps/app.xml" Id="R608909b34bd446e4" /><Relationship Type="http://schemas.openxmlformats.org/officeDocument/2006/relationships/officeDocument" Target="/ppt/presentation.xml" Id="R7996e4ae93a84158" /></Relationships>
</file>

<file path=ppt/presentation.xml><?xml version="1.0" encoding="utf-8"?>
<p:presentation xmlns:p="http://schemas.openxmlformats.org/presentationml/2006/main">
  <p:sldMasterIdLst>
    <p:sldMasterId xmlns:r="http://schemas.openxmlformats.org/officeDocument/2006/relationships" id="2147483648" r:id="Ref0118f2483e4328"/>
  </p:sldMasterIdLst>
  <p:notesMasterIdLst>
    <p:notesMasterId xmlns:r="http://schemas.openxmlformats.org/officeDocument/2006/relationships" r:id="Rcd998aec89194bf9"/>
  </p:notesMasterIdLst>
  <p:sldIdLst>
    <p:sldId xmlns:r="http://schemas.openxmlformats.org/officeDocument/2006/relationships" id="256" r:id="R7eb0140f03214813"/>
    <p:sldId xmlns:r="http://schemas.openxmlformats.org/officeDocument/2006/relationships" id="257" r:id="Rb5d40bd3adc84326"/>
    <p:sldId xmlns:r="http://schemas.openxmlformats.org/officeDocument/2006/relationships" id="258" r:id="R999c3246b5de479f"/>
    <p:sldId xmlns:r="http://schemas.openxmlformats.org/officeDocument/2006/relationships" id="259" r:id="R3aaa4344d63f441b"/>
    <p:sldId xmlns:r="http://schemas.openxmlformats.org/officeDocument/2006/relationships" id="260" r:id="R082f501bd2d34def"/>
    <p:sldId xmlns:r="http://schemas.openxmlformats.org/officeDocument/2006/relationships" id="261" r:id="R6231f7d6e8b9449b"/>
    <p:sldId xmlns:r="http://schemas.openxmlformats.org/officeDocument/2006/relationships" id="262" r:id="R3e9bd9930bb0424c"/>
    <p:sldId xmlns:r="http://schemas.openxmlformats.org/officeDocument/2006/relationships" id="263" r:id="R60f2f56208b64221"/>
    <p:sldId xmlns:r="http://schemas.openxmlformats.org/officeDocument/2006/relationships" id="264" r:id="R2652167dacd247dd"/>
    <p:sldId xmlns:r="http://schemas.openxmlformats.org/officeDocument/2006/relationships" id="265" r:id="Rf05de2ff509a4c5f"/>
    <p:sldId xmlns:r="http://schemas.openxmlformats.org/officeDocument/2006/relationships" id="266" r:id="R2a9721bb01804c27"/>
    <p:sldId xmlns:r="http://schemas.openxmlformats.org/officeDocument/2006/relationships" id="267" r:id="R9292302a38124e6e"/>
    <p:sldId xmlns:r="http://schemas.openxmlformats.org/officeDocument/2006/relationships" id="268" r:id="R056ab01c84a9494c"/>
    <p:sldId xmlns:r="http://schemas.openxmlformats.org/officeDocument/2006/relationships" id="269" r:id="R46c6cc7c01ea4e51"/>
    <p:sldId xmlns:r="http://schemas.openxmlformats.org/officeDocument/2006/relationships" id="270" r:id="R84244d6a3f4c48b0"/>
    <p:sldId xmlns:r="http://schemas.openxmlformats.org/officeDocument/2006/relationships" id="271" r:id="Rfb36ef9c928342b1"/>
    <p:sldId xmlns:r="http://schemas.openxmlformats.org/officeDocument/2006/relationships" id="272" r:id="Rd3db473f880e4e80"/>
    <p:sldId xmlns:r="http://schemas.openxmlformats.org/officeDocument/2006/relationships" id="273" r:id="R0eff4bbffee14e8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18786a876f4c75" /><Relationship Type="http://schemas.openxmlformats.org/officeDocument/2006/relationships/slideMaster" Target="/ppt/slideMasters/slideMaster1.xml" Id="Ref0118f2483e4328" /><Relationship Type="http://schemas.openxmlformats.org/officeDocument/2006/relationships/notesMaster" Target="/ppt/notesMasters/notesMaster1.xml" Id="Rcd998aec89194bf9" /><Relationship Type="http://schemas.openxmlformats.org/officeDocument/2006/relationships/presProps" Target="/ppt/presProps.xml" Id="R71769d0552344912" /><Relationship Type="http://schemas.openxmlformats.org/officeDocument/2006/relationships/tableStyles" Target="/ppt/tableStyles.xml" Id="Rcb14aab7ee1843f2" /><Relationship Type="http://schemas.openxmlformats.org/officeDocument/2006/relationships/slide" Target="/ppt/slides/slide1.xml" Id="R7eb0140f03214813" /><Relationship Type="http://schemas.openxmlformats.org/officeDocument/2006/relationships/slide" Target="/ppt/slides/slide2.xml" Id="Rb5d40bd3adc84326" /><Relationship Type="http://schemas.openxmlformats.org/officeDocument/2006/relationships/slide" Target="/ppt/slides/slide3.xml" Id="R999c3246b5de479f" /><Relationship Type="http://schemas.openxmlformats.org/officeDocument/2006/relationships/slide" Target="/ppt/slides/slide4.xml" Id="R3aaa4344d63f441b" /><Relationship Type="http://schemas.openxmlformats.org/officeDocument/2006/relationships/slide" Target="/ppt/slides/slide5.xml" Id="R082f501bd2d34def" /><Relationship Type="http://schemas.openxmlformats.org/officeDocument/2006/relationships/slide" Target="/ppt/slides/slide6.xml" Id="R6231f7d6e8b9449b" /><Relationship Type="http://schemas.openxmlformats.org/officeDocument/2006/relationships/slide" Target="/ppt/slides/slide7.xml" Id="R3e9bd9930bb0424c" /><Relationship Type="http://schemas.openxmlformats.org/officeDocument/2006/relationships/slide" Target="/ppt/slides/slide8.xml" Id="R60f2f56208b64221" /><Relationship Type="http://schemas.openxmlformats.org/officeDocument/2006/relationships/slide" Target="/ppt/slides/slide9.xml" Id="R2652167dacd247dd" /><Relationship Type="http://schemas.openxmlformats.org/officeDocument/2006/relationships/slide" Target="/ppt/slides/slide10.xml" Id="Rf05de2ff509a4c5f" /><Relationship Type="http://schemas.openxmlformats.org/officeDocument/2006/relationships/slide" Target="/ppt/slides/slide11.xml" Id="R2a9721bb01804c27" /><Relationship Type="http://schemas.openxmlformats.org/officeDocument/2006/relationships/slide" Target="/ppt/slides/slide12.xml" Id="R9292302a38124e6e" /><Relationship Type="http://schemas.openxmlformats.org/officeDocument/2006/relationships/slide" Target="/ppt/slides/slide13.xml" Id="R056ab01c84a9494c" /><Relationship Type="http://schemas.openxmlformats.org/officeDocument/2006/relationships/slide" Target="/ppt/slides/slide14.xml" Id="R46c6cc7c01ea4e51" /><Relationship Type="http://schemas.openxmlformats.org/officeDocument/2006/relationships/slide" Target="/ppt/slides/slide15.xml" Id="R84244d6a3f4c48b0" /><Relationship Type="http://schemas.openxmlformats.org/officeDocument/2006/relationships/slide" Target="/ppt/slides/slide16.xml" Id="Rfb36ef9c928342b1" /><Relationship Type="http://schemas.openxmlformats.org/officeDocument/2006/relationships/slide" Target="/ppt/slides/slide17.xml" Id="Rd3db473f880e4e80" /><Relationship Type="http://schemas.openxmlformats.org/officeDocument/2006/relationships/slide" Target="/ppt/slides/slide18.xml" Id="R0eff4bbffee14e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4074b57c0c4f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83a16359634d0b" /><Relationship Type="http://schemas.openxmlformats.org/officeDocument/2006/relationships/notesMaster" Target="/ppt/notesMasters/notesMaster1.xml" Id="R88ecb2c1852d41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8a4a7fdd3143ab" /><Relationship Type="http://schemas.openxmlformats.org/officeDocument/2006/relationships/notesMaster" Target="/ppt/notesMasters/notesMaster1.xml" Id="R3d42a53b920843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2c5d09c4214899" /><Relationship Type="http://schemas.openxmlformats.org/officeDocument/2006/relationships/notesMaster" Target="/ppt/notesMasters/notesMaster1.xml" Id="Rbc5790e94f164f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739262efe604f10" /><Relationship Type="http://schemas.openxmlformats.org/officeDocument/2006/relationships/notesMaster" Target="/ppt/notesMasters/notesMaster1.xml" Id="R6ec6012a71ed4f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5a7b026d885c4738" /><Relationship Type="http://schemas.openxmlformats.org/officeDocument/2006/relationships/notesMaster" Target="/ppt/notesMasters/notesMaster1.xml" Id="Rda9951a32c2f4606" /></Relationships>
</file>

<file path=ppt/notesSlides/_rels/notesSlide6.xml.rels>&#65279;<?xml version="1.0" encoding="utf-8"?><Relationships xmlns="http://schemas.openxmlformats.org/package/2006/relationships"><Relationship Type="http://schemas.openxmlformats.org/officeDocument/2006/relationships/slide" Target="/ppt/slides/slide6.xml" Id="Rf323fdb1d70943b4" /><Relationship Type="http://schemas.openxmlformats.org/officeDocument/2006/relationships/notesMaster" Target="/ppt/notesMasters/notesMaster1.xml" Id="R0082db4b414d4e6d" /></Relationships>
</file>

<file path=ppt/notesSlides/_rels/notesSlide7.xml.rels>&#65279;<?xml version="1.0" encoding="utf-8"?><Relationships xmlns="http://schemas.openxmlformats.org/package/2006/relationships"><Relationship Type="http://schemas.openxmlformats.org/officeDocument/2006/relationships/slide" Target="/ppt/slides/slide7.xml" Id="R7e625c5e039f4852" /><Relationship Type="http://schemas.openxmlformats.org/officeDocument/2006/relationships/notesMaster" Target="/ppt/notesMasters/notesMaster1.xml" Id="R78651f42a2a046b2" /></Relationships>
</file>

<file path=ppt/notesSlides/_rels/notesSlide8.xml.rels>&#65279;<?xml version="1.0" encoding="utf-8"?><Relationships xmlns="http://schemas.openxmlformats.org/package/2006/relationships"><Relationship Type="http://schemas.openxmlformats.org/officeDocument/2006/relationships/slide" Target="/ppt/slides/slide8.xml" Id="R74e01cbe40c649d8" /><Relationship Type="http://schemas.openxmlformats.org/officeDocument/2006/relationships/notesMaster" Target="/ppt/notesMasters/notesMaster1.xml" Id="R5e941bf847eb451e"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98773e259e4976" /><Relationship Type="http://schemas.openxmlformats.org/officeDocument/2006/relationships/notesMaster" Target="/ppt/notesMasters/notesMaster1.xml" Id="R85ef6dee52c34e8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c7097f5406e4215" /><Relationship Type="http://schemas.openxmlformats.org/officeDocument/2006/relationships/notesMaster" Target="/ppt/notesMasters/notesMaster1.xml" Id="Rfffb4a64770f483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973218b15f642bd" /><Relationship Type="http://schemas.openxmlformats.org/officeDocument/2006/relationships/notesMaster" Target="/ppt/notesMasters/notesMaster1.xml" Id="R8bda91322ca84bd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a83b4a31a0d441a" /><Relationship Type="http://schemas.openxmlformats.org/officeDocument/2006/relationships/notesMaster" Target="/ppt/notesMasters/notesMaster1.xml" Id="Rc27433a8efeb404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bff632728404cad" /><Relationship Type="http://schemas.openxmlformats.org/officeDocument/2006/relationships/notesMaster" Target="/ppt/notesMasters/notesMaster1.xml" Id="R7979c1c4a5c04ea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6a97f59cf2544c6" /><Relationship Type="http://schemas.openxmlformats.org/officeDocument/2006/relationships/notesMaster" Target="/ppt/notesMasters/notesMaster1.xml" Id="Rb93bc10d6cc249c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dd12d3c4df34507" /><Relationship Type="http://schemas.openxmlformats.org/officeDocument/2006/relationships/notesMaster" Target="/ppt/notesMasters/notesMaster1.xml" Id="R3bebbac4965548d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1e498a3990b40e6" /><Relationship Type="http://schemas.openxmlformats.org/officeDocument/2006/relationships/notesMaster" Target="/ppt/notesMasters/notesMaster1.xml" Id="Rc22ed9c1aea04c8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074f0b2d75f4edc" /><Relationship Type="http://schemas.openxmlformats.org/officeDocument/2006/relationships/notesMaster" Target="/ppt/notesMasters/notesMaster1.xml" Id="Rbfb17d79e07d482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cd146e985b64d86" /><Relationship Type="http://schemas.openxmlformats.org/officeDocument/2006/relationships/notesMaster" Target="/ppt/notesMasters/notesMaster1.xml" Id="R9ce1c8aaf65b414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3fded754c9649b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58ab15d73084d44" /><Relationship Type="http://schemas.openxmlformats.org/officeDocument/2006/relationships/slideLayout" Target="/ppt/slideLayouts/slideLayout1.xml" Id="Re8b80259dd474e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b80259dd474e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8a860d26da44291" /><Relationship Type="http://schemas.openxmlformats.org/officeDocument/2006/relationships/notesSlide" Target="/ppt/notesSlides/notesSlide1.xml" Id="R15cfa81d8d5a473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cb1bebf6c894506" /><Relationship Type="http://schemas.openxmlformats.org/officeDocument/2006/relationships/notesSlide" Target="/ppt/notesSlides/notesSlide2.xml" Id="R31b5e4b9077341b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4442168e58a4f5a" /><Relationship Type="http://schemas.openxmlformats.org/officeDocument/2006/relationships/notesSlide" Target="/ppt/notesSlides/notesSlide3.xml" Id="R0f86b28de40344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0de68a8d21e4b41" /><Relationship Type="http://schemas.openxmlformats.org/officeDocument/2006/relationships/notesSlide" Target="/ppt/notesSlides/notesSlide4.xml" Id="R14f12f3acad448f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4e5cb618e3e4d8f" /><Relationship Type="http://schemas.openxmlformats.org/officeDocument/2006/relationships/notesSlide" Target="/ppt/notesSlides/notesSlide5.xml" Id="R90b0a391143241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27294d0037d48cb" /><Relationship Type="http://schemas.openxmlformats.org/officeDocument/2006/relationships/notesSlide" Target="/ppt/notesSlides/notesSlide6.xml" Id="R39502bbed6f643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bb3b4c7c9a140db" /><Relationship Type="http://schemas.openxmlformats.org/officeDocument/2006/relationships/notesSlide" Target="/ppt/notesSlides/notesSlide7.xml" Id="Rc10370f0a6194db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230657925804dda" /><Relationship Type="http://schemas.openxmlformats.org/officeDocument/2006/relationships/notesSlide" Target="/ppt/notesSlides/notesSlide8.xml" Id="Rdbb4f21c0df2412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1a1d7660eb0435e" /><Relationship Type="http://schemas.openxmlformats.org/officeDocument/2006/relationships/notesSlide" Target="/ppt/notesSlides/notesSlide9.xml" Id="R76cb33b339d74d4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f85bd0f6d9646fb" /><Relationship Type="http://schemas.openxmlformats.org/officeDocument/2006/relationships/image" Target="/ppt/media/image.png" Id="Rc3af173e8997474e" /><Relationship Type="http://schemas.openxmlformats.org/officeDocument/2006/relationships/notesSlide" Target="/ppt/notesSlides/notesSlide10.xml" Id="R5bb14c0b34c04ae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86a7874768c4dae" /><Relationship Type="http://schemas.openxmlformats.org/officeDocument/2006/relationships/image" Target="/ppt/media/image2.png" Id="Rfa50213f42824934" /><Relationship Type="http://schemas.openxmlformats.org/officeDocument/2006/relationships/notesSlide" Target="/ppt/notesSlides/notesSlide11.xml" Id="Ree2b2597b2c34fe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0c0f269a0af400e" /><Relationship Type="http://schemas.openxmlformats.org/officeDocument/2006/relationships/image" Target="/ppt/media/image3.png" Id="R72163397832a4a25" /><Relationship Type="http://schemas.openxmlformats.org/officeDocument/2006/relationships/notesSlide" Target="/ppt/notesSlides/notesSlide12.xml" Id="R8676b8f001e6421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f928bbac97148c7" /><Relationship Type="http://schemas.openxmlformats.org/officeDocument/2006/relationships/image" Target="/ppt/media/image4.png" Id="R382f08d8b1df44d7" /><Relationship Type="http://schemas.openxmlformats.org/officeDocument/2006/relationships/notesSlide" Target="/ppt/notesSlides/notesSlide13.xml" Id="R7ea970455ccb492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f58667518334354" /><Relationship Type="http://schemas.openxmlformats.org/officeDocument/2006/relationships/image" Target="/ppt/media/image5.png" Id="Rd5dd64cc1a33401e" /><Relationship Type="http://schemas.openxmlformats.org/officeDocument/2006/relationships/notesSlide" Target="/ppt/notesSlides/notesSlide14.xml" Id="R702c37d5e9a24b7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04ded6e3d5a4eb2" /><Relationship Type="http://schemas.openxmlformats.org/officeDocument/2006/relationships/notesSlide" Target="/ppt/notesSlides/notesSlide15.xml" Id="R377779eaf857403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e707a69b2ed41d9" /><Relationship Type="http://schemas.openxmlformats.org/officeDocument/2006/relationships/notesSlide" Target="/ppt/notesSlides/notesSlide16.xml" Id="R0c95ce5d51924d3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ae245e3eaf04e82" /><Relationship Type="http://schemas.openxmlformats.org/officeDocument/2006/relationships/notesSlide" Target="/ppt/notesSlides/notesSlide17.xml" Id="R1f25105df28d42e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07c6c3b722d43c3" /><Relationship Type="http://schemas.openxmlformats.org/officeDocument/2006/relationships/notesSlide" Target="/ppt/notesSlides/notesSlide18.xml" Id="R8cfee79931d2466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7F34D51-B28A-42D4-87FD-467CDC7709C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3158D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7D772D6-49BE-404A-8882-614AD02C351A}"/>
              </a:ext>
            </a:extLst>
          </p:cNvPr>
          <p:cNvSpPr>
            <a:spLocks xmlns:a="http://schemas.openxmlformats.org/drawingml/2006/main" noGrp="1"/>
          </p:cNvSpPr>
          <p:nvPr/>
        </p:nvSpPr>
        <p:spPr>
          <a:xfrm xmlns:a="http://schemas.openxmlformats.org/drawingml/2006/main">
            <a:off x="742950" y="819150"/>
            <a:ext cx="723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350" b="1">
                <a:solidFill>
                  <a:srgbClr val="FFFFFF"/>
                </a:solidFill>
              </a:defRPr>
            </a:pPr>
            <a:r>
              <a:rPr sz="4350" b="1">
                <a:solidFill>
                  <a:srgbClr val="FFFFFF"/>
                </a:solidFill>
              </a:rPr>
              <a:t>LIFE CYCLE</a:t>
            </a:r>
          </a:p>
        </p:txBody>
      </p:sp>
      <p:sp>
        <p:nvSpPr>
          <p:cNvPr id="3" name="">
            <a:extLst xmlns:a="http://schemas.openxmlformats.org/drawingml/2006/main">
              <a:ext uri="{FF2B5EF4-FFF2-40B4-BE49-F238E27FC236}">
                <a16:creationId xmlns:a16="http://schemas.microsoft.com/office/drawing/2014/main" id="{D134E718-028C-4CFD-93C7-3515AB35D123}"/>
              </a:ext>
            </a:extLst>
          </p:cNvPr>
          <p:cNvSpPr>
            <a:spLocks xmlns:a="http://schemas.openxmlformats.org/drawingml/2006/main" noGrp="1"/>
          </p:cNvSpPr>
          <p:nvPr/>
        </p:nvSpPr>
        <p:spPr>
          <a:xfrm xmlns:a="http://schemas.openxmlformats.org/drawingml/2006/main">
            <a:off x="781050" y="1619250"/>
            <a:ext cx="685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FFFFFF"/>
                </a:solidFill>
              </a:defRPr>
            </a:pPr>
            <a:r>
              <a:rPr sz="2550" b="1">
                <a:solidFill>
                  <a:srgbClr val="FFFFFF"/>
                </a:solidFill>
              </a:rPr>
              <a:t>웹디자인 프로젝트 보고서</a:t>
            </a:r>
          </a:p>
        </p:txBody>
      </p:sp>
      <p:sp>
        <p:nvSpPr>
          <p:cNvPr id="4" name="">
            <a:extLst xmlns:a="http://schemas.openxmlformats.org/drawingml/2006/main">
              <a:ext uri="{FF2B5EF4-FFF2-40B4-BE49-F238E27FC236}">
                <a16:creationId xmlns:a16="http://schemas.microsoft.com/office/drawing/2014/main" id="{CE173442-CA13-45AF-A70A-3CF15DC64119}"/>
              </a:ext>
            </a:extLst>
          </p:cNvPr>
          <p:cNvSpPr>
            <a:spLocks xmlns:a="http://schemas.openxmlformats.org/drawingml/2006/main" noGrp="1"/>
          </p:cNvSpPr>
          <p:nvPr/>
        </p:nvSpPr>
        <p:spPr>
          <a:xfrm xmlns:a="http://schemas.openxmlformats.org/drawingml/2006/main">
            <a:off x="800100" y="2362200"/>
            <a:ext cx="8001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EFF6FF"/>
                </a:solidFill>
              </a:defRPr>
            </a:pPr>
            <a:r>
              <a:rPr sz="1650" b="0">
                <a:solidFill>
                  <a:srgbClr val="EFF6FF"/>
                </a:solidFill>
              </a:rPr>
              <a:t>TODO · 습관 · 캘린더 · 한 줄 일기 · AI 브리핑을 통합한 개인 일정 관리 웹앱</a:t>
            </a:r>
          </a:p>
        </p:txBody>
      </p:sp>
      <p:sp>
        <p:nvSpPr>
          <p:cNvPr id="5" name="">
            <a:extLst xmlns:a="http://schemas.openxmlformats.org/drawingml/2006/main">
              <a:ext uri="{FF2B5EF4-FFF2-40B4-BE49-F238E27FC236}">
                <a16:creationId xmlns:a16="http://schemas.microsoft.com/office/drawing/2014/main" id="{09D15B6E-75A1-4861-AECB-3B151140012D}"/>
              </a:ext>
            </a:extLst>
          </p:cNvPr>
          <p:cNvSpPr>
            <a:spLocks xmlns:a="http://schemas.openxmlformats.org/drawingml/2006/main" noGrp="1"/>
          </p:cNvSpPr>
          <p:nvPr/>
        </p:nvSpPr>
        <p:spPr>
          <a:xfrm xmlns:a="http://schemas.openxmlformats.org/drawingml/2006/main">
            <a:off x="781050" y="4629150"/>
            <a:ext cx="4000500" cy="1028700"/>
          </a:xfrm>
          <a:prstGeom xmlns:a="http://schemas.openxmlformats.org/drawingml/2006/main" prst="roundRect">
            <a:avLst>
              <a:gd name="adj" fmla="val 16667"/>
            </a:avLst>
          </a:prstGeom>
          <a:solidFill xmlns:a="http://schemas.openxmlformats.org/drawingml/2006/main">
            <a:srgbClr val="FFFFFF">
              <a:alpha val="13333"/>
            </a:srgbClr>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676E8DCD-4D59-4ED7-93EF-735D8E6DDBFC}"/>
              </a:ext>
            </a:extLst>
          </p:cNvPr>
          <p:cNvSpPr>
            <a:spLocks xmlns:a="http://schemas.openxmlformats.org/drawingml/2006/main" noGrp="1"/>
          </p:cNvSpPr>
          <p:nvPr/>
        </p:nvSpPr>
        <p:spPr>
          <a:xfrm xmlns:a="http://schemas.openxmlformats.org/drawingml/2006/main">
            <a:off x="1028700" y="4876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작성자: [학번] [이름]</a:t>
            </a:r>
          </a:p>
          <a:p xmlns:a="http://schemas.openxmlformats.org/drawingml/2006/main">
            <a:pPr algn="l">
              <a:defRPr sz="1500" b="1">
                <a:solidFill>
                  <a:srgbClr val="FFFFFF"/>
                </a:solidFill>
              </a:defRPr>
            </a:pPr>
            <a:r>
              <a:rPr sz="1500" b="1">
                <a:solidFill>
                  <a:srgbClr val="FFFFFF"/>
                </a:solidFill>
              </a:rPr>
              <a:t>작성일: 2026. 06. 23</a:t>
            </a:r>
          </a:p>
        </p:txBody>
      </p:sp>
      <p:sp>
        <p:nvSpPr>
          <p:cNvPr id="7" name="">
            <a:extLst xmlns:a="http://schemas.openxmlformats.org/drawingml/2006/main">
              <a:ext uri="{FF2B5EF4-FFF2-40B4-BE49-F238E27FC236}">
                <a16:creationId xmlns:a16="http://schemas.microsoft.com/office/drawing/2014/main" id="{AADF56D4-75D7-409B-8341-96A674F68F2C}"/>
              </a:ext>
            </a:extLst>
          </p:cNvPr>
          <p:cNvSpPr>
            <a:spLocks xmlns:a="http://schemas.openxmlformats.org/drawingml/2006/main" noGrp="1"/>
          </p:cNvSpPr>
          <p:nvPr/>
        </p:nvSpPr>
        <p:spPr>
          <a:xfrm xmlns:a="http://schemas.openxmlformats.org/drawingml/2006/main">
            <a:off x="10572750" y="5429250"/>
            <a:ext cx="95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3750" b="1">
                <a:solidFill>
                  <a:srgbClr val="DBEAFE"/>
                </a:solidFill>
              </a:defRPr>
            </a:pPr>
            <a:r>
              <a:rPr sz="3750" b="1">
                <a:solidFill>
                  <a:srgbClr val="DBEAFE"/>
                </a:solidFill>
              </a:rPr>
              <a:t>01</a:t>
            </a:r>
          </a:p>
        </p:txBody>
      </p:sp>
    </p:spTree>
    <p:extLst>
      <p:ext uri="{BB962C8B-B14F-4D97-AF65-F5344CB8AC3E}">
        <p14:creationId xmlns:p14="http://schemas.microsoft.com/office/powerpoint/2010/main" val="492413239"/>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A6086AE-67D6-4223-BA65-2043CC542A63}"/>
              </a:ext>
            </a:extLst>
          </p:cNvPr>
          <p:cNvSpPr>
            <a:spLocks xmlns:a="http://schemas.openxmlformats.org/drawingml/2006/main" noGrp="1"/>
          </p:cNvSpPr>
          <p:nvPr/>
        </p:nvSpPr>
        <p:spPr>
          <a:xfrm xmlns:a="http://schemas.openxmlformats.org/drawingml/2006/main">
            <a:off x="685800" y="4191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3158D4"/>
                </a:solidFill>
              </a:defRPr>
            </a:pPr>
            <a:r>
              <a:rPr sz="1200" b="1">
                <a:solidFill>
                  <a:srgbClr val="3158D4"/>
                </a:solidFill>
              </a:rPr>
              <a:t>LIFE CYCLE</a:t>
            </a:r>
          </a:p>
        </p:txBody>
      </p:sp>
      <p:sp>
        <p:nvSpPr>
          <p:cNvPr id="2" name="">
            <a:extLst xmlns:a="http://schemas.openxmlformats.org/drawingml/2006/main">
              <a:ext uri="{FF2B5EF4-FFF2-40B4-BE49-F238E27FC236}">
                <a16:creationId xmlns:a16="http://schemas.microsoft.com/office/drawing/2014/main" id="{785201F1-FC57-4889-9DCC-45D4A49BE4B1}"/>
              </a:ext>
            </a:extLst>
          </p:cNvPr>
          <p:cNvSpPr>
            <a:spLocks xmlns:a="http://schemas.openxmlformats.org/drawingml/2006/main" noGrp="1"/>
          </p:cNvSpPr>
          <p:nvPr/>
        </p:nvSpPr>
        <p:spPr>
          <a:xfrm xmlns:a="http://schemas.openxmlformats.org/drawingml/2006/main">
            <a:off x="685800" y="838200"/>
            <a:ext cx="876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20618"/>
                </a:solidFill>
              </a:defRPr>
            </a:pPr>
            <a:r>
              <a:rPr sz="2850" b="1">
                <a:solidFill>
                  <a:srgbClr val="020618"/>
                </a:solidFill>
              </a:rPr>
              <a:t>주제</a:t>
            </a:r>
          </a:p>
        </p:txBody>
      </p:sp>
      <p:sp>
        <p:nvSpPr>
          <p:cNvPr id="3" name="">
            <a:extLst xmlns:a="http://schemas.openxmlformats.org/drawingml/2006/main">
              <a:ext uri="{FF2B5EF4-FFF2-40B4-BE49-F238E27FC236}">
                <a16:creationId xmlns:a16="http://schemas.microsoft.com/office/drawing/2014/main" id="{0B979425-CA4E-4D89-B816-49D3DFC0C692}"/>
              </a:ext>
            </a:extLst>
          </p:cNvPr>
          <p:cNvSpPr>
            <a:spLocks xmlns:a="http://schemas.openxmlformats.org/drawingml/2006/main" noGrp="1"/>
          </p:cNvSpPr>
          <p:nvPr/>
        </p:nvSpPr>
        <p:spPr>
          <a:xfrm xmlns:a="http://schemas.openxmlformats.org/drawingml/2006/main">
            <a:off x="704850" y="1409700"/>
            <a:ext cx="876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5556C"/>
                </a:solidFill>
              </a:defRPr>
            </a:pPr>
            <a:r>
              <a:rPr sz="1350" b="0">
                <a:solidFill>
                  <a:srgbClr val="45556C"/>
                </a:solidFill>
              </a:rPr>
              <a:t>사이트맵 기반으로 완성한 LIFE CYCLE 웹앱의 목적과 방향</a:t>
            </a:r>
          </a:p>
        </p:txBody>
      </p:sp>
      <p:sp>
        <p:nvSpPr>
          <p:cNvPr id="4" name="">
            <a:extLst xmlns:a="http://schemas.openxmlformats.org/drawingml/2006/main">
              <a:ext uri="{FF2B5EF4-FFF2-40B4-BE49-F238E27FC236}">
                <a16:creationId xmlns:a16="http://schemas.microsoft.com/office/drawing/2014/main" id="{342668A1-FDC3-493A-845B-666180D20725}"/>
              </a:ext>
            </a:extLst>
          </p:cNvPr>
          <p:cNvSpPr>
            <a:spLocks xmlns:a="http://schemas.openxmlformats.org/drawingml/2006/main" noGrp="1"/>
          </p:cNvSpPr>
          <p:nvPr/>
        </p:nvSpPr>
        <p:spPr>
          <a:xfrm xmlns:a="http://schemas.openxmlformats.org/drawingml/2006/main">
            <a:off x="685800" y="1866900"/>
            <a:ext cx="1082040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5" name="">
            <a:extLst xmlns:a="http://schemas.openxmlformats.org/drawingml/2006/main">
              <a:ext uri="{FF2B5EF4-FFF2-40B4-BE49-F238E27FC236}">
                <a16:creationId xmlns:a16="http://schemas.microsoft.com/office/drawing/2014/main" id="{42CEEBE5-A534-42DD-A1B7-8508621D0E99}"/>
              </a:ext>
            </a:extLst>
          </p:cNvPr>
          <p:cNvSpPr>
            <a:spLocks xmlns:a="http://schemas.openxmlformats.org/drawingml/2006/main" noGrp="1"/>
          </p:cNvSpPr>
          <p:nvPr/>
        </p:nvSpPr>
        <p:spPr>
          <a:xfrm xmlns:a="http://schemas.openxmlformats.org/drawingml/2006/main">
            <a:off x="685800" y="2266950"/>
            <a:ext cx="4953000" cy="2857500"/>
          </a:xfrm>
          <a:prstGeom xmlns:a="http://schemas.openxmlformats.org/drawingml/2006/main" prst="roundRect">
            <a:avLst>
              <a:gd name="adj" fmla="val 6000"/>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FA9AD126-3D7D-4600-B0B1-0145087BC967}"/>
              </a:ext>
            </a:extLst>
          </p:cNvPr>
          <p:cNvSpPr>
            <a:spLocks xmlns:a="http://schemas.openxmlformats.org/drawingml/2006/main" noGrp="1"/>
          </p:cNvSpPr>
          <p:nvPr/>
        </p:nvSpPr>
        <p:spPr>
          <a:xfrm xmlns:a="http://schemas.openxmlformats.org/drawingml/2006/main">
            <a:off x="5981700" y="2266950"/>
            <a:ext cx="5524500" cy="2857500"/>
          </a:xfrm>
          <a:prstGeom xmlns:a="http://schemas.openxmlformats.org/drawingml/2006/main" prst="roundRect">
            <a:avLst>
              <a:gd name="adj" fmla="val 6000"/>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E6893438-1380-4AA9-BEEB-BDAEA0B053E8}"/>
              </a:ext>
            </a:extLst>
          </p:cNvPr>
          <p:cNvSpPr>
            <a:spLocks xmlns:a="http://schemas.openxmlformats.org/drawingml/2006/main" noGrp="1"/>
          </p:cNvSpPr>
          <p:nvPr/>
        </p:nvSpPr>
        <p:spPr>
          <a:xfrm xmlns:a="http://schemas.openxmlformats.org/drawingml/2006/main">
            <a:off x="952500" y="25717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3158D4"/>
                </a:solidFill>
              </a:defRPr>
            </a:pPr>
            <a:r>
              <a:rPr sz="2100" b="1">
                <a:solidFill>
                  <a:srgbClr val="3158D4"/>
                </a:solidFill>
              </a:rPr>
              <a:t>주제</a:t>
            </a:r>
          </a:p>
        </p:txBody>
      </p:sp>
      <p:sp>
        <p:nvSpPr>
          <p:cNvPr id="8" name="">
            <a:extLst xmlns:a="http://schemas.openxmlformats.org/drawingml/2006/main">
              <a:ext uri="{FF2B5EF4-FFF2-40B4-BE49-F238E27FC236}">
                <a16:creationId xmlns:a16="http://schemas.microsoft.com/office/drawing/2014/main" id="{163022FD-C81B-4A67-B756-CC05C94F0F7C}"/>
              </a:ext>
            </a:extLst>
          </p:cNvPr>
          <p:cNvSpPr>
            <a:spLocks xmlns:a="http://schemas.openxmlformats.org/drawingml/2006/main" noGrp="1"/>
          </p:cNvSpPr>
          <p:nvPr/>
        </p:nvSpPr>
        <p:spPr>
          <a:xfrm xmlns:a="http://schemas.openxmlformats.org/drawingml/2006/main">
            <a:off x="952500" y="3086100"/>
            <a:ext cx="400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20618"/>
                </a:solidFill>
              </a:defRPr>
            </a:pPr>
            <a:r>
              <a:rPr sz="2700" b="1">
                <a:solidFill>
                  <a:srgbClr val="020618"/>
                </a:solidFill>
              </a:rPr>
              <a:t>LIFE CYCLE</a:t>
            </a:r>
          </a:p>
        </p:txBody>
      </p:sp>
      <p:sp>
        <p:nvSpPr>
          <p:cNvPr id="9" name="">
            <a:extLst xmlns:a="http://schemas.openxmlformats.org/drawingml/2006/main">
              <a:ext uri="{FF2B5EF4-FFF2-40B4-BE49-F238E27FC236}">
                <a16:creationId xmlns:a16="http://schemas.microsoft.com/office/drawing/2014/main" id="{C32DEF84-42BB-4B4A-8FB5-53BE59F11B6E}"/>
              </a:ext>
            </a:extLst>
          </p:cNvPr>
          <p:cNvSpPr>
            <a:spLocks xmlns:a="http://schemas.openxmlformats.org/drawingml/2006/main" noGrp="1"/>
          </p:cNvSpPr>
          <p:nvPr/>
        </p:nvSpPr>
        <p:spPr>
          <a:xfrm xmlns:a="http://schemas.openxmlformats.org/drawingml/2006/main">
            <a:off x="971550" y="3676650"/>
            <a:ext cx="4000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45556C"/>
                </a:solidFill>
              </a:defRPr>
            </a:pPr>
            <a:r>
              <a:rPr sz="1575" b="0">
                <a:solidFill>
                  <a:srgbClr val="45556C"/>
                </a:solidFill>
              </a:rPr>
              <a:t>하루 일정과 루틴을 한 화면에서 정리하고, 기록과 AI 조언까지 연결하는 개인 생활 관리 웹앱</a:t>
            </a:r>
          </a:p>
        </p:txBody>
      </p:sp>
      <p:sp>
        <p:nvSpPr>
          <p:cNvPr id="10" name="">
            <a:extLst xmlns:a="http://schemas.openxmlformats.org/drawingml/2006/main">
              <a:ext uri="{FF2B5EF4-FFF2-40B4-BE49-F238E27FC236}">
                <a16:creationId xmlns:a16="http://schemas.microsoft.com/office/drawing/2014/main" id="{E7ADD697-F560-4E54-9AA9-EA65E6D5523E}"/>
              </a:ext>
            </a:extLst>
          </p:cNvPr>
          <p:cNvSpPr>
            <a:spLocks xmlns:a="http://schemas.openxmlformats.org/drawingml/2006/main" noGrp="1"/>
          </p:cNvSpPr>
          <p:nvPr/>
        </p:nvSpPr>
        <p:spPr>
          <a:xfrm xmlns:a="http://schemas.openxmlformats.org/drawingml/2006/main">
            <a:off x="6286500" y="2571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3158D4"/>
                </a:solidFill>
              </a:defRPr>
            </a:pPr>
            <a:r>
              <a:rPr sz="2100" b="1">
                <a:solidFill>
                  <a:srgbClr val="3158D4"/>
                </a:solidFill>
              </a:rPr>
              <a:t>기획 의도</a:t>
            </a:r>
          </a:p>
        </p:txBody>
      </p:sp>
      <p:sp>
        <p:nvSpPr>
          <p:cNvPr id="11" name="">
            <a:extLst xmlns:a="http://schemas.openxmlformats.org/drawingml/2006/main">
              <a:ext uri="{FF2B5EF4-FFF2-40B4-BE49-F238E27FC236}">
                <a16:creationId xmlns:a16="http://schemas.microsoft.com/office/drawing/2014/main" id="{40C30B14-5E38-4C08-BE33-5F14158C67D5}"/>
              </a:ext>
            </a:extLst>
          </p:cNvPr>
          <p:cNvSpPr>
            <a:spLocks xmlns:a="http://schemas.openxmlformats.org/drawingml/2006/main" noGrp="1"/>
          </p:cNvSpPr>
          <p:nvPr/>
        </p:nvSpPr>
        <p:spPr>
          <a:xfrm xmlns:a="http://schemas.openxmlformats.org/drawingml/2006/main">
            <a:off x="6286500" y="3086100"/>
            <a:ext cx="47625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020618"/>
                </a:solidFill>
              </a:defRPr>
            </a:pPr>
            <a:r>
              <a:rPr sz="1575" b="0">
                <a:solidFill>
                  <a:srgbClr val="020618"/>
                </a:solidFill>
              </a:rPr>
              <a:t>• TODO와 일정이 흩어지는 문제를 한 화면에서 해결</a:t>
            </a:r>
          </a:p>
          <a:p xmlns:a="http://schemas.openxmlformats.org/drawingml/2006/main">
            <a:pPr algn="l">
              <a:defRPr sz="1575" b="0">
                <a:solidFill>
                  <a:srgbClr val="020618"/>
                </a:solidFill>
              </a:defRPr>
            </a:pPr>
            <a:r>
              <a:rPr sz="1575" b="0">
                <a:solidFill>
                  <a:srgbClr val="020618"/>
                </a:solidFill>
              </a:rPr>
              <a:t>• 습관과 일기를 함께 기록해 하루의 흐름을 되돌아봄</a:t>
            </a:r>
          </a:p>
          <a:p xmlns:a="http://schemas.openxmlformats.org/drawingml/2006/main">
            <a:pPr algn="l">
              <a:defRPr sz="1575" b="0">
                <a:solidFill>
                  <a:srgbClr val="020618"/>
                </a:solidFill>
              </a:defRPr>
            </a:pPr>
            <a:r>
              <a:rPr sz="1575" b="0">
                <a:solidFill>
                  <a:srgbClr val="020618"/>
                </a:solidFill>
              </a:rPr>
              <a:t>• 사용자가 직접 입력한 API 키로 필요한 순간에만 AI 브리핑 생성</a:t>
            </a:r>
          </a:p>
        </p:txBody>
      </p:sp>
      <p:sp>
        <p:nvSpPr>
          <p:cNvPr id="12" name="">
            <a:extLst xmlns:a="http://schemas.openxmlformats.org/drawingml/2006/main">
              <a:ext uri="{FF2B5EF4-FFF2-40B4-BE49-F238E27FC236}">
                <a16:creationId xmlns:a16="http://schemas.microsoft.com/office/drawing/2014/main" id="{87353CBA-60A5-459F-8E1B-C69F3A85BAFA}"/>
              </a:ext>
            </a:extLst>
          </p:cNvPr>
          <p:cNvSpPr>
            <a:spLocks xmlns:a="http://schemas.openxmlformats.org/drawingml/2006/main" noGrp="1"/>
          </p:cNvSpPr>
          <p:nvPr/>
        </p:nvSpPr>
        <p:spPr>
          <a:xfrm xmlns:a="http://schemas.openxmlformats.org/drawingml/2006/main">
            <a:off x="8858250" y="6496050"/>
            <a:ext cx="2647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90A1B9"/>
                </a:solidFill>
              </a:defRPr>
            </a:pPr>
            <a:r>
              <a:rPr sz="900" b="0">
                <a:solidFill>
                  <a:srgbClr val="90A1B9"/>
                </a:solidFill>
              </a:rPr>
              <a:t>웹디자인 프로젝트 보고서 | 02</a:t>
            </a:r>
          </a:p>
        </p:txBody>
      </p:sp>
    </p:spTree>
    <p:extLst>
      <p:ext uri="{BB962C8B-B14F-4D97-AF65-F5344CB8AC3E}">
        <p14:creationId xmlns:p14="http://schemas.microsoft.com/office/powerpoint/2010/main" val="633609399"/>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F5F2BAC-05EA-42FF-9127-F99C247C495B}"/>
              </a:ext>
            </a:extLst>
          </p:cNvPr>
          <p:cNvSpPr>
            <a:spLocks xmlns:a="http://schemas.openxmlformats.org/drawingml/2006/main" noGrp="1"/>
          </p:cNvSpPr>
          <p:nvPr/>
        </p:nvSpPr>
        <p:spPr>
          <a:xfrm xmlns:a="http://schemas.openxmlformats.org/drawingml/2006/main">
            <a:off x="685800" y="4191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3158D4"/>
                </a:solidFill>
              </a:defRPr>
            </a:pPr>
            <a:r>
              <a:rPr sz="1200" b="1">
                <a:solidFill>
                  <a:srgbClr val="3158D4"/>
                </a:solidFill>
              </a:rPr>
              <a:t>LIFE CYCLE</a:t>
            </a:r>
          </a:p>
        </p:txBody>
      </p:sp>
      <p:sp>
        <p:nvSpPr>
          <p:cNvPr id="2" name="">
            <a:extLst xmlns:a="http://schemas.openxmlformats.org/drawingml/2006/main">
              <a:ext uri="{FF2B5EF4-FFF2-40B4-BE49-F238E27FC236}">
                <a16:creationId xmlns:a16="http://schemas.microsoft.com/office/drawing/2014/main" id="{53EC9B3A-2A1B-496B-8582-EB7E175D6FCD}"/>
              </a:ext>
            </a:extLst>
          </p:cNvPr>
          <p:cNvSpPr>
            <a:spLocks xmlns:a="http://schemas.openxmlformats.org/drawingml/2006/main" noGrp="1"/>
          </p:cNvSpPr>
          <p:nvPr/>
        </p:nvSpPr>
        <p:spPr>
          <a:xfrm xmlns:a="http://schemas.openxmlformats.org/drawingml/2006/main">
            <a:off x="685800" y="838200"/>
            <a:ext cx="876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20618"/>
                </a:solidFill>
              </a:defRPr>
            </a:pPr>
            <a:r>
              <a:rPr sz="2850" b="1">
                <a:solidFill>
                  <a:srgbClr val="020618"/>
                </a:solidFill>
              </a:rPr>
              <a:t>주요내용</a:t>
            </a:r>
          </a:p>
        </p:txBody>
      </p:sp>
      <p:sp>
        <p:nvSpPr>
          <p:cNvPr id="3" name="">
            <a:extLst xmlns:a="http://schemas.openxmlformats.org/drawingml/2006/main">
              <a:ext uri="{FF2B5EF4-FFF2-40B4-BE49-F238E27FC236}">
                <a16:creationId xmlns:a16="http://schemas.microsoft.com/office/drawing/2014/main" id="{6D8FBD28-2A19-4A7B-AFE0-C9481135E9D1}"/>
              </a:ext>
            </a:extLst>
          </p:cNvPr>
          <p:cNvSpPr>
            <a:spLocks xmlns:a="http://schemas.openxmlformats.org/drawingml/2006/main" noGrp="1"/>
          </p:cNvSpPr>
          <p:nvPr/>
        </p:nvSpPr>
        <p:spPr>
          <a:xfrm xmlns:a="http://schemas.openxmlformats.org/drawingml/2006/main">
            <a:off x="704850" y="1409700"/>
            <a:ext cx="876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5556C"/>
                </a:solidFill>
              </a:defRPr>
            </a:pPr>
            <a:r>
              <a:rPr sz="1350" b="0">
                <a:solidFill>
                  <a:srgbClr val="45556C"/>
                </a:solidFill>
              </a:rPr>
              <a:t>웹앱을 구성하는 핵심 흐름</a:t>
            </a:r>
          </a:p>
        </p:txBody>
      </p:sp>
      <p:sp>
        <p:nvSpPr>
          <p:cNvPr id="4" name="">
            <a:extLst xmlns:a="http://schemas.openxmlformats.org/drawingml/2006/main">
              <a:ext uri="{FF2B5EF4-FFF2-40B4-BE49-F238E27FC236}">
                <a16:creationId xmlns:a16="http://schemas.microsoft.com/office/drawing/2014/main" id="{8BDC0025-A943-44E1-841D-206C801CEA0A}"/>
              </a:ext>
            </a:extLst>
          </p:cNvPr>
          <p:cNvSpPr>
            <a:spLocks xmlns:a="http://schemas.openxmlformats.org/drawingml/2006/main" noGrp="1"/>
          </p:cNvSpPr>
          <p:nvPr/>
        </p:nvSpPr>
        <p:spPr>
          <a:xfrm xmlns:a="http://schemas.openxmlformats.org/drawingml/2006/main">
            <a:off x="685800" y="1866900"/>
            <a:ext cx="1082040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5" name="">
            <a:extLst xmlns:a="http://schemas.openxmlformats.org/drawingml/2006/main">
              <a:ext uri="{FF2B5EF4-FFF2-40B4-BE49-F238E27FC236}">
                <a16:creationId xmlns:a16="http://schemas.microsoft.com/office/drawing/2014/main" id="{EFB1A81B-C243-4582-8537-96AC576D8EFE}"/>
              </a:ext>
            </a:extLst>
          </p:cNvPr>
          <p:cNvSpPr>
            <a:spLocks xmlns:a="http://schemas.openxmlformats.org/drawingml/2006/main" noGrp="1"/>
          </p:cNvSpPr>
          <p:nvPr/>
        </p:nvSpPr>
        <p:spPr>
          <a:xfrm xmlns:a="http://schemas.openxmlformats.org/drawingml/2006/main">
            <a:off x="685800" y="2381250"/>
            <a:ext cx="4953000" cy="1104900"/>
          </a:xfrm>
          <a:prstGeom xmlns:a="http://schemas.openxmlformats.org/drawingml/2006/main" prst="roundRect">
            <a:avLst>
              <a:gd name="adj" fmla="val 15517"/>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300A30B8-18C7-4142-A214-EA27E9F2555B}"/>
              </a:ext>
            </a:extLst>
          </p:cNvPr>
          <p:cNvSpPr>
            <a:spLocks xmlns:a="http://schemas.openxmlformats.org/drawingml/2006/main" noGrp="1"/>
          </p:cNvSpPr>
          <p:nvPr/>
        </p:nvSpPr>
        <p:spPr>
          <a:xfrm xmlns:a="http://schemas.openxmlformats.org/drawingml/2006/main">
            <a:off x="952500" y="26098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3158D4"/>
                </a:solidFill>
              </a:defRPr>
            </a:pPr>
            <a:r>
              <a:rPr sz="1800" b="1">
                <a:solidFill>
                  <a:srgbClr val="3158D4"/>
                </a:solidFill>
              </a:rPr>
              <a:t>SCHEDULE</a:t>
            </a:r>
          </a:p>
        </p:txBody>
      </p:sp>
      <p:sp>
        <p:nvSpPr>
          <p:cNvPr id="7" name="">
            <a:extLst xmlns:a="http://schemas.openxmlformats.org/drawingml/2006/main">
              <a:ext uri="{FF2B5EF4-FFF2-40B4-BE49-F238E27FC236}">
                <a16:creationId xmlns:a16="http://schemas.microsoft.com/office/drawing/2014/main" id="{FECA11DD-2470-4395-820F-913B63B0AB27}"/>
              </a:ext>
            </a:extLst>
          </p:cNvPr>
          <p:cNvSpPr>
            <a:spLocks xmlns:a="http://schemas.openxmlformats.org/drawingml/2006/main" noGrp="1"/>
          </p:cNvSpPr>
          <p:nvPr/>
        </p:nvSpPr>
        <p:spPr>
          <a:xfrm xmlns:a="http://schemas.openxmlformats.org/drawingml/2006/main">
            <a:off x="952500" y="29718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5556C"/>
                </a:solidFill>
              </a:defRPr>
            </a:pPr>
            <a:r>
              <a:rPr sz="1350" b="0">
                <a:solidFill>
                  <a:srgbClr val="45556C"/>
                </a:solidFill>
              </a:rPr>
              <a:t>미완료 TODO, 날짜별 일정, 우선순위 점 표시</a:t>
            </a:r>
          </a:p>
        </p:txBody>
      </p:sp>
      <p:sp>
        <p:nvSpPr>
          <p:cNvPr id="8" name="">
            <a:extLst xmlns:a="http://schemas.openxmlformats.org/drawingml/2006/main">
              <a:ext uri="{FF2B5EF4-FFF2-40B4-BE49-F238E27FC236}">
                <a16:creationId xmlns:a16="http://schemas.microsoft.com/office/drawing/2014/main" id="{9776E040-2C67-4816-B0B1-62C928FABB1C}"/>
              </a:ext>
            </a:extLst>
          </p:cNvPr>
          <p:cNvSpPr>
            <a:spLocks xmlns:a="http://schemas.openxmlformats.org/drawingml/2006/main" noGrp="1"/>
          </p:cNvSpPr>
          <p:nvPr/>
        </p:nvSpPr>
        <p:spPr>
          <a:xfrm xmlns:a="http://schemas.openxmlformats.org/drawingml/2006/main">
            <a:off x="6096000" y="2381250"/>
            <a:ext cx="4953000" cy="1104900"/>
          </a:xfrm>
          <a:prstGeom xmlns:a="http://schemas.openxmlformats.org/drawingml/2006/main" prst="roundRect">
            <a:avLst>
              <a:gd name="adj" fmla="val 15517"/>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45888E63-108D-49D2-97A5-224EA7336E0D}"/>
              </a:ext>
            </a:extLst>
          </p:cNvPr>
          <p:cNvSpPr>
            <a:spLocks xmlns:a="http://schemas.openxmlformats.org/drawingml/2006/main" noGrp="1"/>
          </p:cNvSpPr>
          <p:nvPr/>
        </p:nvSpPr>
        <p:spPr>
          <a:xfrm xmlns:a="http://schemas.openxmlformats.org/drawingml/2006/main">
            <a:off x="6362700" y="26098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3158D4"/>
                </a:solidFill>
              </a:defRPr>
            </a:pPr>
            <a:r>
              <a:rPr sz="1800" b="1">
                <a:solidFill>
                  <a:srgbClr val="3158D4"/>
                </a:solidFill>
              </a:rPr>
              <a:t>ROUTINE</a:t>
            </a:r>
          </a:p>
        </p:txBody>
      </p:sp>
      <p:sp>
        <p:nvSpPr>
          <p:cNvPr id="10" name="">
            <a:extLst xmlns:a="http://schemas.openxmlformats.org/drawingml/2006/main">
              <a:ext uri="{FF2B5EF4-FFF2-40B4-BE49-F238E27FC236}">
                <a16:creationId xmlns:a16="http://schemas.microsoft.com/office/drawing/2014/main" id="{C7C2836B-86D4-4B49-8489-0E3BEACA38FF}"/>
              </a:ext>
            </a:extLst>
          </p:cNvPr>
          <p:cNvSpPr>
            <a:spLocks xmlns:a="http://schemas.openxmlformats.org/drawingml/2006/main" noGrp="1"/>
          </p:cNvSpPr>
          <p:nvPr/>
        </p:nvSpPr>
        <p:spPr>
          <a:xfrm xmlns:a="http://schemas.openxmlformats.org/drawingml/2006/main">
            <a:off x="6362700" y="29718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5556C"/>
                </a:solidFill>
              </a:defRPr>
            </a:pPr>
            <a:r>
              <a:rPr sz="1350" b="0">
                <a:solidFill>
                  <a:srgbClr val="45556C"/>
                </a:solidFill>
              </a:rPr>
              <a:t>오늘 습관, 완료 처리, 연속 수행 랭킹</a:t>
            </a:r>
          </a:p>
        </p:txBody>
      </p:sp>
      <p:sp>
        <p:nvSpPr>
          <p:cNvPr id="11" name="">
            <a:extLst xmlns:a="http://schemas.openxmlformats.org/drawingml/2006/main">
              <a:ext uri="{FF2B5EF4-FFF2-40B4-BE49-F238E27FC236}">
                <a16:creationId xmlns:a16="http://schemas.microsoft.com/office/drawing/2014/main" id="{10DD8574-4B58-4526-942D-5BE16F3E8A4F}"/>
              </a:ext>
            </a:extLst>
          </p:cNvPr>
          <p:cNvSpPr>
            <a:spLocks xmlns:a="http://schemas.openxmlformats.org/drawingml/2006/main" noGrp="1"/>
          </p:cNvSpPr>
          <p:nvPr/>
        </p:nvSpPr>
        <p:spPr>
          <a:xfrm xmlns:a="http://schemas.openxmlformats.org/drawingml/2006/main">
            <a:off x="685800" y="3810000"/>
            <a:ext cx="4953000" cy="1104900"/>
          </a:xfrm>
          <a:prstGeom xmlns:a="http://schemas.openxmlformats.org/drawingml/2006/main" prst="roundRect">
            <a:avLst>
              <a:gd name="adj" fmla="val 15517"/>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18967410-32BF-484E-9082-C9306A843AC1}"/>
              </a:ext>
            </a:extLst>
          </p:cNvPr>
          <p:cNvSpPr>
            <a:spLocks xmlns:a="http://schemas.openxmlformats.org/drawingml/2006/main" noGrp="1"/>
          </p:cNvSpPr>
          <p:nvPr/>
        </p:nvSpPr>
        <p:spPr>
          <a:xfrm xmlns:a="http://schemas.openxmlformats.org/drawingml/2006/main">
            <a:off x="952500" y="40386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3158D4"/>
                </a:solidFill>
              </a:defRPr>
            </a:pPr>
            <a:r>
              <a:rPr sz="1800" b="1">
                <a:solidFill>
                  <a:srgbClr val="3158D4"/>
                </a:solidFill>
              </a:rPr>
              <a:t>DIARY</a:t>
            </a:r>
          </a:p>
        </p:txBody>
      </p:sp>
      <p:sp>
        <p:nvSpPr>
          <p:cNvPr id="13" name="">
            <a:extLst xmlns:a="http://schemas.openxmlformats.org/drawingml/2006/main">
              <a:ext uri="{FF2B5EF4-FFF2-40B4-BE49-F238E27FC236}">
                <a16:creationId xmlns:a16="http://schemas.microsoft.com/office/drawing/2014/main" id="{DEC81151-11E9-4020-8130-C84EAD9499AC}"/>
              </a:ext>
            </a:extLst>
          </p:cNvPr>
          <p:cNvSpPr>
            <a:spLocks xmlns:a="http://schemas.openxmlformats.org/drawingml/2006/main" noGrp="1"/>
          </p:cNvSpPr>
          <p:nvPr/>
        </p:nvSpPr>
        <p:spPr>
          <a:xfrm xmlns:a="http://schemas.openxmlformats.org/drawingml/2006/main">
            <a:off x="952500" y="440055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5556C"/>
                </a:solidFill>
              </a:defRPr>
            </a:pPr>
            <a:r>
              <a:rPr sz="1350" b="0">
                <a:solidFill>
                  <a:srgbClr val="45556C"/>
                </a:solidFill>
              </a:rPr>
              <a:t>날짜별 한 줄 일기와 이모티콘 기록</a:t>
            </a:r>
          </a:p>
        </p:txBody>
      </p:sp>
      <p:sp>
        <p:nvSpPr>
          <p:cNvPr id="14" name="">
            <a:extLst xmlns:a="http://schemas.openxmlformats.org/drawingml/2006/main">
              <a:ext uri="{FF2B5EF4-FFF2-40B4-BE49-F238E27FC236}">
                <a16:creationId xmlns:a16="http://schemas.microsoft.com/office/drawing/2014/main" id="{2CC45E87-25A8-4F63-B52B-6600155777C9}"/>
              </a:ext>
            </a:extLst>
          </p:cNvPr>
          <p:cNvSpPr>
            <a:spLocks xmlns:a="http://schemas.openxmlformats.org/drawingml/2006/main" noGrp="1"/>
          </p:cNvSpPr>
          <p:nvPr/>
        </p:nvSpPr>
        <p:spPr>
          <a:xfrm xmlns:a="http://schemas.openxmlformats.org/drawingml/2006/main">
            <a:off x="6096000" y="3810000"/>
            <a:ext cx="4953000" cy="1104900"/>
          </a:xfrm>
          <a:prstGeom xmlns:a="http://schemas.openxmlformats.org/drawingml/2006/main" prst="roundRect">
            <a:avLst>
              <a:gd name="adj" fmla="val 15517"/>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EF470EBB-0DA7-4DBD-9752-5BFDD65C51A6}"/>
              </a:ext>
            </a:extLst>
          </p:cNvPr>
          <p:cNvSpPr>
            <a:spLocks xmlns:a="http://schemas.openxmlformats.org/drawingml/2006/main" noGrp="1"/>
          </p:cNvSpPr>
          <p:nvPr/>
        </p:nvSpPr>
        <p:spPr>
          <a:xfrm xmlns:a="http://schemas.openxmlformats.org/drawingml/2006/main">
            <a:off x="6362700" y="40386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3158D4"/>
                </a:solidFill>
              </a:defRPr>
            </a:pPr>
            <a:r>
              <a:rPr sz="1800" b="1">
                <a:solidFill>
                  <a:srgbClr val="3158D4"/>
                </a:solidFill>
              </a:rPr>
              <a:t>AI</a:t>
            </a:r>
          </a:p>
        </p:txBody>
      </p:sp>
      <p:sp>
        <p:nvSpPr>
          <p:cNvPr id="16" name="">
            <a:extLst xmlns:a="http://schemas.openxmlformats.org/drawingml/2006/main">
              <a:ext uri="{FF2B5EF4-FFF2-40B4-BE49-F238E27FC236}">
                <a16:creationId xmlns:a16="http://schemas.microsoft.com/office/drawing/2014/main" id="{85AA5023-099D-438B-A28B-775E8D12CC0F}"/>
              </a:ext>
            </a:extLst>
          </p:cNvPr>
          <p:cNvSpPr>
            <a:spLocks xmlns:a="http://schemas.openxmlformats.org/drawingml/2006/main" noGrp="1"/>
          </p:cNvSpPr>
          <p:nvPr/>
        </p:nvSpPr>
        <p:spPr>
          <a:xfrm xmlns:a="http://schemas.openxmlformats.org/drawingml/2006/main">
            <a:off x="6362700" y="440055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5556C"/>
                </a:solidFill>
              </a:defRPr>
            </a:pPr>
            <a:r>
              <a:rPr sz="1350" b="0">
                <a:solidFill>
                  <a:srgbClr val="45556C"/>
                </a:solidFill>
              </a:rPr>
              <a:t>일정·날씨·습관을 바탕으로 생성하는 브리핑</a:t>
            </a:r>
          </a:p>
        </p:txBody>
      </p:sp>
      <p:sp>
        <p:nvSpPr>
          <p:cNvPr id="17" name="">
            <a:extLst xmlns:a="http://schemas.openxmlformats.org/drawingml/2006/main">
              <a:ext uri="{FF2B5EF4-FFF2-40B4-BE49-F238E27FC236}">
                <a16:creationId xmlns:a16="http://schemas.microsoft.com/office/drawing/2014/main" id="{B068D12F-33D1-485F-A63D-C3289C63E5C5}"/>
              </a:ext>
            </a:extLst>
          </p:cNvPr>
          <p:cNvSpPr>
            <a:spLocks xmlns:a="http://schemas.openxmlformats.org/drawingml/2006/main" noGrp="1"/>
          </p:cNvSpPr>
          <p:nvPr/>
        </p:nvSpPr>
        <p:spPr>
          <a:xfrm xmlns:a="http://schemas.openxmlformats.org/drawingml/2006/main">
            <a:off x="8858250" y="6496050"/>
            <a:ext cx="2647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90A1B9"/>
                </a:solidFill>
              </a:defRPr>
            </a:pPr>
            <a:r>
              <a:rPr sz="900" b="0">
                <a:solidFill>
                  <a:srgbClr val="90A1B9"/>
                </a:solidFill>
              </a:rPr>
              <a:t>웹디자인 프로젝트 보고서 | 03</a:t>
            </a:r>
          </a:p>
        </p:txBody>
      </p:sp>
    </p:spTree>
    <p:extLst>
      <p:ext uri="{BB962C8B-B14F-4D97-AF65-F5344CB8AC3E}">
        <p14:creationId xmlns:p14="http://schemas.microsoft.com/office/powerpoint/2010/main" val="1936208279"/>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1C3AF31-DB5B-4C92-B4FC-6E73FE29EB2C}"/>
              </a:ext>
            </a:extLst>
          </p:cNvPr>
          <p:cNvSpPr>
            <a:spLocks xmlns:a="http://schemas.openxmlformats.org/drawingml/2006/main" noGrp="1"/>
          </p:cNvSpPr>
          <p:nvPr/>
        </p:nvSpPr>
        <p:spPr>
          <a:xfrm xmlns:a="http://schemas.openxmlformats.org/drawingml/2006/main">
            <a:off x="685800" y="4191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3158D4"/>
                </a:solidFill>
              </a:defRPr>
            </a:pPr>
            <a:r>
              <a:rPr sz="1200" b="1">
                <a:solidFill>
                  <a:srgbClr val="3158D4"/>
                </a:solidFill>
              </a:rPr>
              <a:t>LIFE CYCLE</a:t>
            </a:r>
          </a:p>
        </p:txBody>
      </p:sp>
      <p:sp>
        <p:nvSpPr>
          <p:cNvPr id="2" name="">
            <a:extLst xmlns:a="http://schemas.openxmlformats.org/drawingml/2006/main">
              <a:ext uri="{FF2B5EF4-FFF2-40B4-BE49-F238E27FC236}">
                <a16:creationId xmlns:a16="http://schemas.microsoft.com/office/drawing/2014/main" id="{CDCE07FF-3C3B-415F-95C9-8DFB41700CDB}"/>
              </a:ext>
            </a:extLst>
          </p:cNvPr>
          <p:cNvSpPr>
            <a:spLocks xmlns:a="http://schemas.openxmlformats.org/drawingml/2006/main" noGrp="1"/>
          </p:cNvSpPr>
          <p:nvPr/>
        </p:nvSpPr>
        <p:spPr>
          <a:xfrm xmlns:a="http://schemas.openxmlformats.org/drawingml/2006/main">
            <a:off x="685800" y="838200"/>
            <a:ext cx="876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20618"/>
                </a:solidFill>
              </a:defRPr>
            </a:pPr>
            <a:r>
              <a:rPr sz="2850" b="1">
                <a:solidFill>
                  <a:srgbClr val="020618"/>
                </a:solidFill>
              </a:rPr>
              <a:t>기능요약</a:t>
            </a:r>
          </a:p>
        </p:txBody>
      </p:sp>
      <p:sp>
        <p:nvSpPr>
          <p:cNvPr id="3" name="">
            <a:extLst xmlns:a="http://schemas.openxmlformats.org/drawingml/2006/main">
              <a:ext uri="{FF2B5EF4-FFF2-40B4-BE49-F238E27FC236}">
                <a16:creationId xmlns:a16="http://schemas.microsoft.com/office/drawing/2014/main" id="{638BF972-EC34-4674-B99D-760ACFF42013}"/>
              </a:ext>
            </a:extLst>
          </p:cNvPr>
          <p:cNvSpPr>
            <a:spLocks xmlns:a="http://schemas.openxmlformats.org/drawingml/2006/main" noGrp="1"/>
          </p:cNvSpPr>
          <p:nvPr/>
        </p:nvSpPr>
        <p:spPr>
          <a:xfrm xmlns:a="http://schemas.openxmlformats.org/drawingml/2006/main">
            <a:off x="704850" y="1409700"/>
            <a:ext cx="876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5556C"/>
                </a:solidFill>
              </a:defRPr>
            </a:pPr>
            <a:r>
              <a:rPr sz="1350" b="0">
                <a:solidFill>
                  <a:srgbClr val="45556C"/>
                </a:solidFill>
              </a:rPr>
              <a:t>화면별 주요 기능과 저장 방식</a:t>
            </a:r>
          </a:p>
        </p:txBody>
      </p:sp>
      <p:sp>
        <p:nvSpPr>
          <p:cNvPr id="4" name="">
            <a:extLst xmlns:a="http://schemas.openxmlformats.org/drawingml/2006/main">
              <a:ext uri="{FF2B5EF4-FFF2-40B4-BE49-F238E27FC236}">
                <a16:creationId xmlns:a16="http://schemas.microsoft.com/office/drawing/2014/main" id="{02D048E0-5200-4B3B-AB2A-F91DB11952E5}"/>
              </a:ext>
            </a:extLst>
          </p:cNvPr>
          <p:cNvSpPr>
            <a:spLocks xmlns:a="http://schemas.openxmlformats.org/drawingml/2006/main" noGrp="1"/>
          </p:cNvSpPr>
          <p:nvPr/>
        </p:nvSpPr>
        <p:spPr>
          <a:xfrm xmlns:a="http://schemas.openxmlformats.org/drawingml/2006/main">
            <a:off x="685800" y="1866900"/>
            <a:ext cx="1082040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5" name="">
            <a:extLst xmlns:a="http://schemas.openxmlformats.org/drawingml/2006/main">
              <a:ext uri="{FF2B5EF4-FFF2-40B4-BE49-F238E27FC236}">
                <a16:creationId xmlns:a16="http://schemas.microsoft.com/office/drawing/2014/main" id="{7BDD5F13-64D3-457E-9F77-228871165B8E}"/>
              </a:ext>
            </a:extLst>
          </p:cNvPr>
          <p:cNvSpPr>
            <a:spLocks xmlns:a="http://schemas.openxmlformats.org/drawingml/2006/main" noGrp="1"/>
          </p:cNvSpPr>
          <p:nvPr/>
        </p:nvSpPr>
        <p:spPr>
          <a:xfrm xmlns:a="http://schemas.openxmlformats.org/drawingml/2006/main">
            <a:off x="685800" y="2247900"/>
            <a:ext cx="10820400" cy="3429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46B7E3C6-8D97-4EE0-A9F6-E8BDC8E09F1A}"/>
              </a:ext>
            </a:extLst>
          </p:cNvPr>
          <p:cNvSpPr>
            <a:spLocks xmlns:a="http://schemas.openxmlformats.org/drawingml/2006/main" noGrp="1"/>
          </p:cNvSpPr>
          <p:nvPr/>
        </p:nvSpPr>
        <p:spPr>
          <a:xfrm xmlns:a="http://schemas.openxmlformats.org/drawingml/2006/main">
            <a:off x="1066800" y="25336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3158D4"/>
                </a:solidFill>
              </a:defRPr>
            </a:pPr>
            <a:r>
              <a:rPr sz="1425" b="1">
                <a:solidFill>
                  <a:srgbClr val="3158D4"/>
                </a:solidFill>
              </a:rPr>
              <a:t>메인</a:t>
            </a:r>
          </a:p>
        </p:txBody>
      </p:sp>
      <p:sp>
        <p:nvSpPr>
          <p:cNvPr id="7" name="">
            <a:extLst xmlns:a="http://schemas.openxmlformats.org/drawingml/2006/main">
              <a:ext uri="{FF2B5EF4-FFF2-40B4-BE49-F238E27FC236}">
                <a16:creationId xmlns:a16="http://schemas.microsoft.com/office/drawing/2014/main" id="{7C8EE879-80B5-4AD0-9211-43973B0B8D35}"/>
              </a:ext>
            </a:extLst>
          </p:cNvPr>
          <p:cNvSpPr>
            <a:spLocks xmlns:a="http://schemas.openxmlformats.org/drawingml/2006/main" noGrp="1"/>
          </p:cNvSpPr>
          <p:nvPr/>
        </p:nvSpPr>
        <p:spPr>
          <a:xfrm xmlns:a="http://schemas.openxmlformats.org/drawingml/2006/main">
            <a:off x="2476500" y="253365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20618"/>
                </a:solidFill>
              </a:defRPr>
            </a:pPr>
            <a:r>
              <a:rPr sz="1350" b="0">
                <a:solidFill>
                  <a:srgbClr val="020618"/>
                </a:solidFill>
              </a:rPr>
              <a:t>TODO/습관/캘린더/AI 브리핑을 한 화면에서 확인</a:t>
            </a:r>
          </a:p>
        </p:txBody>
      </p:sp>
      <p:sp>
        <p:nvSpPr>
          <p:cNvPr id="8" name="">
            <a:extLst xmlns:a="http://schemas.openxmlformats.org/drawingml/2006/main">
              <a:ext uri="{FF2B5EF4-FFF2-40B4-BE49-F238E27FC236}">
                <a16:creationId xmlns:a16="http://schemas.microsoft.com/office/drawing/2014/main" id="{9FADB679-ACBA-490F-9904-5E8E472C4AA0}"/>
              </a:ext>
            </a:extLst>
          </p:cNvPr>
          <p:cNvSpPr>
            <a:spLocks xmlns:a="http://schemas.openxmlformats.org/drawingml/2006/main" noGrp="1"/>
          </p:cNvSpPr>
          <p:nvPr/>
        </p:nvSpPr>
        <p:spPr>
          <a:xfrm xmlns:a="http://schemas.openxmlformats.org/drawingml/2006/main">
            <a:off x="1066800" y="29908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3158D4"/>
                </a:solidFill>
              </a:defRPr>
            </a:pPr>
            <a:r>
              <a:rPr sz="1425" b="1">
                <a:solidFill>
                  <a:srgbClr val="3158D4"/>
                </a:solidFill>
              </a:rPr>
              <a:t>TODO</a:t>
            </a:r>
          </a:p>
        </p:txBody>
      </p:sp>
      <p:sp>
        <p:nvSpPr>
          <p:cNvPr id="9" name="">
            <a:extLst xmlns:a="http://schemas.openxmlformats.org/drawingml/2006/main">
              <a:ext uri="{FF2B5EF4-FFF2-40B4-BE49-F238E27FC236}">
                <a16:creationId xmlns:a16="http://schemas.microsoft.com/office/drawing/2014/main" id="{62279249-11DC-40C6-95DD-80D7B8F5D4DB}"/>
              </a:ext>
            </a:extLst>
          </p:cNvPr>
          <p:cNvSpPr>
            <a:spLocks xmlns:a="http://schemas.openxmlformats.org/drawingml/2006/main" noGrp="1"/>
          </p:cNvSpPr>
          <p:nvPr/>
        </p:nvSpPr>
        <p:spPr>
          <a:xfrm xmlns:a="http://schemas.openxmlformats.org/drawingml/2006/main">
            <a:off x="2476500" y="299085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20618"/>
                </a:solidFill>
              </a:defRPr>
            </a:pPr>
            <a:r>
              <a:rPr sz="1350" b="0">
                <a:solidFill>
                  <a:srgbClr val="020618"/>
                </a:solidFill>
              </a:rPr>
              <a:t>날짜별 일정 관리, 우선순위, 지역, 완료/삭제, 미완료 점 표시</a:t>
            </a:r>
          </a:p>
        </p:txBody>
      </p:sp>
      <p:sp>
        <p:nvSpPr>
          <p:cNvPr id="10" name="">
            <a:extLst xmlns:a="http://schemas.openxmlformats.org/drawingml/2006/main">
              <a:ext uri="{FF2B5EF4-FFF2-40B4-BE49-F238E27FC236}">
                <a16:creationId xmlns:a16="http://schemas.microsoft.com/office/drawing/2014/main" id="{5CD783A9-7FA4-4E14-9CD7-4131C2D0F7BF}"/>
              </a:ext>
            </a:extLst>
          </p:cNvPr>
          <p:cNvSpPr>
            <a:spLocks xmlns:a="http://schemas.openxmlformats.org/drawingml/2006/main" noGrp="1"/>
          </p:cNvSpPr>
          <p:nvPr/>
        </p:nvSpPr>
        <p:spPr>
          <a:xfrm xmlns:a="http://schemas.openxmlformats.org/drawingml/2006/main">
            <a:off x="1066800" y="34480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3158D4"/>
                </a:solidFill>
              </a:defRPr>
            </a:pPr>
            <a:r>
              <a:rPr sz="1425" b="1">
                <a:solidFill>
                  <a:srgbClr val="3158D4"/>
                </a:solidFill>
              </a:rPr>
              <a:t>습관</a:t>
            </a:r>
          </a:p>
        </p:txBody>
      </p:sp>
      <p:sp>
        <p:nvSpPr>
          <p:cNvPr id="11" name="">
            <a:extLst xmlns:a="http://schemas.openxmlformats.org/drawingml/2006/main">
              <a:ext uri="{FF2B5EF4-FFF2-40B4-BE49-F238E27FC236}">
                <a16:creationId xmlns:a16="http://schemas.microsoft.com/office/drawing/2014/main" id="{BE14B619-D76E-45F6-89A5-2A1EF1FD23DC}"/>
              </a:ext>
            </a:extLst>
          </p:cNvPr>
          <p:cNvSpPr>
            <a:spLocks xmlns:a="http://schemas.openxmlformats.org/drawingml/2006/main" noGrp="1"/>
          </p:cNvSpPr>
          <p:nvPr/>
        </p:nvSpPr>
        <p:spPr>
          <a:xfrm xmlns:a="http://schemas.openxmlformats.org/drawingml/2006/main">
            <a:off x="2476500" y="344805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20618"/>
                </a:solidFill>
              </a:defRPr>
            </a:pPr>
            <a:r>
              <a:rPr sz="1350" b="0">
                <a:solidFill>
                  <a:srgbClr val="020618"/>
                </a:solidFill>
              </a:rPr>
              <a:t>습관 추가, 오늘 완료, 월간 달성률, 연속 수행 랭킹</a:t>
            </a:r>
          </a:p>
        </p:txBody>
      </p:sp>
      <p:sp>
        <p:nvSpPr>
          <p:cNvPr id="12" name="">
            <a:extLst xmlns:a="http://schemas.openxmlformats.org/drawingml/2006/main">
              <a:ext uri="{FF2B5EF4-FFF2-40B4-BE49-F238E27FC236}">
                <a16:creationId xmlns:a16="http://schemas.microsoft.com/office/drawing/2014/main" id="{B9749CA8-BD56-41BC-A0B3-4EF770594726}"/>
              </a:ext>
            </a:extLst>
          </p:cNvPr>
          <p:cNvSpPr>
            <a:spLocks xmlns:a="http://schemas.openxmlformats.org/drawingml/2006/main" noGrp="1"/>
          </p:cNvSpPr>
          <p:nvPr/>
        </p:nvSpPr>
        <p:spPr>
          <a:xfrm xmlns:a="http://schemas.openxmlformats.org/drawingml/2006/main">
            <a:off x="1066800" y="39052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3158D4"/>
                </a:solidFill>
              </a:defRPr>
            </a:pPr>
            <a:r>
              <a:rPr sz="1425" b="1">
                <a:solidFill>
                  <a:srgbClr val="3158D4"/>
                </a:solidFill>
              </a:rPr>
              <a:t>일기</a:t>
            </a:r>
          </a:p>
        </p:txBody>
      </p:sp>
      <p:sp>
        <p:nvSpPr>
          <p:cNvPr id="13" name="">
            <a:extLst xmlns:a="http://schemas.openxmlformats.org/drawingml/2006/main">
              <a:ext uri="{FF2B5EF4-FFF2-40B4-BE49-F238E27FC236}">
                <a16:creationId xmlns:a16="http://schemas.microsoft.com/office/drawing/2014/main" id="{64F7320B-947E-4510-8899-FF8962F9451E}"/>
              </a:ext>
            </a:extLst>
          </p:cNvPr>
          <p:cNvSpPr>
            <a:spLocks xmlns:a="http://schemas.openxmlformats.org/drawingml/2006/main" noGrp="1"/>
          </p:cNvSpPr>
          <p:nvPr/>
        </p:nvSpPr>
        <p:spPr>
          <a:xfrm xmlns:a="http://schemas.openxmlformats.org/drawingml/2006/main">
            <a:off x="2476500" y="390525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20618"/>
                </a:solidFill>
              </a:defRPr>
            </a:pPr>
            <a:r>
              <a:rPr sz="1350" b="0">
                <a:solidFill>
                  <a:srgbClr val="020618"/>
                </a:solidFill>
              </a:rPr>
              <a:t>날짜별 한 줄 일기, 이모티콘, 전체 일기 목록 스크롤</a:t>
            </a:r>
          </a:p>
        </p:txBody>
      </p:sp>
      <p:sp>
        <p:nvSpPr>
          <p:cNvPr id="14" name="">
            <a:extLst xmlns:a="http://schemas.openxmlformats.org/drawingml/2006/main">
              <a:ext uri="{FF2B5EF4-FFF2-40B4-BE49-F238E27FC236}">
                <a16:creationId xmlns:a16="http://schemas.microsoft.com/office/drawing/2014/main" id="{0B8B30BA-5613-4CEC-8AE3-D37B4B0D4BB8}"/>
              </a:ext>
            </a:extLst>
          </p:cNvPr>
          <p:cNvSpPr>
            <a:spLocks xmlns:a="http://schemas.openxmlformats.org/drawingml/2006/main" noGrp="1"/>
          </p:cNvSpPr>
          <p:nvPr/>
        </p:nvSpPr>
        <p:spPr>
          <a:xfrm xmlns:a="http://schemas.openxmlformats.org/drawingml/2006/main">
            <a:off x="1066800" y="43624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3158D4"/>
                </a:solidFill>
              </a:defRPr>
            </a:pPr>
            <a:r>
              <a:rPr sz="1425" b="1">
                <a:solidFill>
                  <a:srgbClr val="3158D4"/>
                </a:solidFill>
              </a:rPr>
              <a:t>AI</a:t>
            </a:r>
          </a:p>
        </p:txBody>
      </p:sp>
      <p:sp>
        <p:nvSpPr>
          <p:cNvPr id="15" name="">
            <a:extLst xmlns:a="http://schemas.openxmlformats.org/drawingml/2006/main">
              <a:ext uri="{FF2B5EF4-FFF2-40B4-BE49-F238E27FC236}">
                <a16:creationId xmlns:a16="http://schemas.microsoft.com/office/drawing/2014/main" id="{BACA6132-D0A9-4C5B-858B-598071DAEBDB}"/>
              </a:ext>
            </a:extLst>
          </p:cNvPr>
          <p:cNvSpPr>
            <a:spLocks xmlns:a="http://schemas.openxmlformats.org/drawingml/2006/main" noGrp="1"/>
          </p:cNvSpPr>
          <p:nvPr/>
        </p:nvSpPr>
        <p:spPr>
          <a:xfrm xmlns:a="http://schemas.openxmlformats.org/drawingml/2006/main">
            <a:off x="2476500" y="436245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20618"/>
                </a:solidFill>
              </a:defRPr>
            </a:pPr>
            <a:r>
              <a:rPr sz="1350" b="0">
                <a:solidFill>
                  <a:srgbClr val="020618"/>
                </a:solidFill>
              </a:rPr>
              <a:t>OpenWeatherMap + OpenRouter, GPT 5.4 nano 고정, API 키 미저장</a:t>
            </a:r>
          </a:p>
        </p:txBody>
      </p:sp>
      <p:sp>
        <p:nvSpPr>
          <p:cNvPr id="16" name="">
            <a:extLst xmlns:a="http://schemas.openxmlformats.org/drawingml/2006/main">
              <a:ext uri="{FF2B5EF4-FFF2-40B4-BE49-F238E27FC236}">
                <a16:creationId xmlns:a16="http://schemas.microsoft.com/office/drawing/2014/main" id="{F9091ADB-CB6C-48A7-88F7-B1CC654D9C97}"/>
              </a:ext>
            </a:extLst>
          </p:cNvPr>
          <p:cNvSpPr>
            <a:spLocks xmlns:a="http://schemas.openxmlformats.org/drawingml/2006/main" noGrp="1"/>
          </p:cNvSpPr>
          <p:nvPr/>
        </p:nvSpPr>
        <p:spPr>
          <a:xfrm xmlns:a="http://schemas.openxmlformats.org/drawingml/2006/main">
            <a:off x="1066800" y="48196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3158D4"/>
                </a:solidFill>
              </a:defRPr>
            </a:pPr>
            <a:r>
              <a:rPr sz="1425" b="1">
                <a:solidFill>
                  <a:srgbClr val="3158D4"/>
                </a:solidFill>
              </a:rPr>
              <a:t>데이터</a:t>
            </a:r>
          </a:p>
        </p:txBody>
      </p:sp>
      <p:sp>
        <p:nvSpPr>
          <p:cNvPr id="17" name="">
            <a:extLst xmlns:a="http://schemas.openxmlformats.org/drawingml/2006/main">
              <a:ext uri="{FF2B5EF4-FFF2-40B4-BE49-F238E27FC236}">
                <a16:creationId xmlns:a16="http://schemas.microsoft.com/office/drawing/2014/main" id="{9B2EE75C-5AAC-4623-B418-F5A6514064C3}"/>
              </a:ext>
            </a:extLst>
          </p:cNvPr>
          <p:cNvSpPr>
            <a:spLocks xmlns:a="http://schemas.openxmlformats.org/drawingml/2006/main" noGrp="1"/>
          </p:cNvSpPr>
          <p:nvPr/>
        </p:nvSpPr>
        <p:spPr>
          <a:xfrm xmlns:a="http://schemas.openxmlformats.org/drawingml/2006/main">
            <a:off x="2476500" y="481965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20618"/>
                </a:solidFill>
              </a:defRPr>
            </a:pPr>
            <a:r>
              <a:rPr sz="1350" b="0">
                <a:solidFill>
                  <a:srgbClr val="020618"/>
                </a:solidFill>
              </a:rPr>
              <a:t>TODO/습관/일기/이벤트를 localStorage로 저장</a:t>
            </a:r>
          </a:p>
        </p:txBody>
      </p:sp>
      <p:sp>
        <p:nvSpPr>
          <p:cNvPr id="18" name="">
            <a:extLst xmlns:a="http://schemas.openxmlformats.org/drawingml/2006/main">
              <a:ext uri="{FF2B5EF4-FFF2-40B4-BE49-F238E27FC236}">
                <a16:creationId xmlns:a16="http://schemas.microsoft.com/office/drawing/2014/main" id="{A557929E-651A-4F6B-A630-9FD2735EE6CF}"/>
              </a:ext>
            </a:extLst>
          </p:cNvPr>
          <p:cNvSpPr>
            <a:spLocks xmlns:a="http://schemas.openxmlformats.org/drawingml/2006/main" noGrp="1"/>
          </p:cNvSpPr>
          <p:nvPr/>
        </p:nvSpPr>
        <p:spPr>
          <a:xfrm xmlns:a="http://schemas.openxmlformats.org/drawingml/2006/main">
            <a:off x="8858250" y="6496050"/>
            <a:ext cx="2647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90A1B9"/>
                </a:solidFill>
              </a:defRPr>
            </a:pPr>
            <a:r>
              <a:rPr sz="900" b="0">
                <a:solidFill>
                  <a:srgbClr val="90A1B9"/>
                </a:solidFill>
              </a:rPr>
              <a:t>웹디자인 프로젝트 보고서 | 04</a:t>
            </a:r>
          </a:p>
        </p:txBody>
      </p:sp>
    </p:spTree>
    <p:extLst>
      <p:ext uri="{BB962C8B-B14F-4D97-AF65-F5344CB8AC3E}">
        <p14:creationId xmlns:p14="http://schemas.microsoft.com/office/powerpoint/2010/main" val="1012759765"/>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5615166-27AA-4402-BF8E-4428C9F639CF}"/>
              </a:ext>
            </a:extLst>
          </p:cNvPr>
          <p:cNvSpPr>
            <a:spLocks xmlns:a="http://schemas.openxmlformats.org/drawingml/2006/main" noGrp="1"/>
          </p:cNvSpPr>
          <p:nvPr/>
        </p:nvSpPr>
        <p:spPr>
          <a:xfrm xmlns:a="http://schemas.openxmlformats.org/drawingml/2006/main">
            <a:off x="685800" y="4191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3158D4"/>
                </a:solidFill>
              </a:defRPr>
            </a:pPr>
            <a:r>
              <a:rPr sz="1200" b="1">
                <a:solidFill>
                  <a:srgbClr val="3158D4"/>
                </a:solidFill>
              </a:rPr>
              <a:t>LIFE CYCLE</a:t>
            </a:r>
          </a:p>
        </p:txBody>
      </p:sp>
      <p:sp>
        <p:nvSpPr>
          <p:cNvPr id="2" name="">
            <a:extLst xmlns:a="http://schemas.openxmlformats.org/drawingml/2006/main">
              <a:ext uri="{FF2B5EF4-FFF2-40B4-BE49-F238E27FC236}">
                <a16:creationId xmlns:a16="http://schemas.microsoft.com/office/drawing/2014/main" id="{6BE1318B-D354-49EE-BAD9-AD0A8AEA70E5}"/>
              </a:ext>
            </a:extLst>
          </p:cNvPr>
          <p:cNvSpPr>
            <a:spLocks xmlns:a="http://schemas.openxmlformats.org/drawingml/2006/main" noGrp="1"/>
          </p:cNvSpPr>
          <p:nvPr/>
        </p:nvSpPr>
        <p:spPr>
          <a:xfrm xmlns:a="http://schemas.openxmlformats.org/drawingml/2006/main">
            <a:off x="685800" y="838200"/>
            <a:ext cx="876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20618"/>
                </a:solidFill>
              </a:defRPr>
            </a:pPr>
            <a:r>
              <a:rPr sz="2850" b="1">
                <a:solidFill>
                  <a:srgbClr val="020618"/>
                </a:solidFill>
              </a:rPr>
              <a:t>기획일정</a:t>
            </a:r>
          </a:p>
        </p:txBody>
      </p:sp>
      <p:sp>
        <p:nvSpPr>
          <p:cNvPr id="3" name="">
            <a:extLst xmlns:a="http://schemas.openxmlformats.org/drawingml/2006/main">
              <a:ext uri="{FF2B5EF4-FFF2-40B4-BE49-F238E27FC236}">
                <a16:creationId xmlns:a16="http://schemas.microsoft.com/office/drawing/2014/main" id="{85C39D84-A305-41A6-8661-36BD2CE9813F}"/>
              </a:ext>
            </a:extLst>
          </p:cNvPr>
          <p:cNvSpPr>
            <a:spLocks xmlns:a="http://schemas.openxmlformats.org/drawingml/2006/main" noGrp="1"/>
          </p:cNvSpPr>
          <p:nvPr/>
        </p:nvSpPr>
        <p:spPr>
          <a:xfrm xmlns:a="http://schemas.openxmlformats.org/drawingml/2006/main">
            <a:off x="704850" y="1409700"/>
            <a:ext cx="876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5556C"/>
                </a:solidFill>
              </a:defRPr>
            </a:pPr>
            <a:r>
              <a:rPr sz="1350" b="0">
                <a:solidFill>
                  <a:srgbClr val="45556C"/>
                </a:solidFill>
              </a:rPr>
              <a:t>요구사항 분석부터 최종 UI 정리까지의 작업 흐름</a:t>
            </a:r>
          </a:p>
        </p:txBody>
      </p:sp>
      <p:sp>
        <p:nvSpPr>
          <p:cNvPr id="4" name="">
            <a:extLst xmlns:a="http://schemas.openxmlformats.org/drawingml/2006/main">
              <a:ext uri="{FF2B5EF4-FFF2-40B4-BE49-F238E27FC236}">
                <a16:creationId xmlns:a16="http://schemas.microsoft.com/office/drawing/2014/main" id="{2C5F082A-BCEB-417B-805C-ABF670821928}"/>
              </a:ext>
            </a:extLst>
          </p:cNvPr>
          <p:cNvSpPr>
            <a:spLocks xmlns:a="http://schemas.openxmlformats.org/drawingml/2006/main" noGrp="1"/>
          </p:cNvSpPr>
          <p:nvPr/>
        </p:nvSpPr>
        <p:spPr>
          <a:xfrm xmlns:a="http://schemas.openxmlformats.org/drawingml/2006/main">
            <a:off x="685800" y="1866900"/>
            <a:ext cx="1082040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5" name="">
            <a:extLst xmlns:a="http://schemas.openxmlformats.org/drawingml/2006/main">
              <a:ext uri="{FF2B5EF4-FFF2-40B4-BE49-F238E27FC236}">
                <a16:creationId xmlns:a16="http://schemas.microsoft.com/office/drawing/2014/main" id="{44C423F5-FF78-4BF0-B5C2-5335C910849D}"/>
              </a:ext>
            </a:extLst>
          </p:cNvPr>
          <p:cNvSpPr>
            <a:spLocks xmlns:a="http://schemas.openxmlformats.org/drawingml/2006/main" noGrp="1"/>
          </p:cNvSpPr>
          <p:nvPr/>
        </p:nvSpPr>
        <p:spPr>
          <a:xfrm xmlns:a="http://schemas.openxmlformats.org/drawingml/2006/main">
            <a:off x="742950" y="2476500"/>
            <a:ext cx="1809750" cy="23812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74896C27-03B2-4268-BF1C-7DE00A909B66}"/>
              </a:ext>
            </a:extLst>
          </p:cNvPr>
          <p:cNvSpPr>
            <a:spLocks xmlns:a="http://schemas.openxmlformats.org/drawingml/2006/main" noGrp="1"/>
          </p:cNvSpPr>
          <p:nvPr/>
        </p:nvSpPr>
        <p:spPr>
          <a:xfrm xmlns:a="http://schemas.openxmlformats.org/drawingml/2006/main">
            <a:off x="933450" y="27051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3158D4"/>
                </a:solidFill>
              </a:defRPr>
            </a:pPr>
            <a:r>
              <a:rPr sz="1875" b="1">
                <a:solidFill>
                  <a:srgbClr val="3158D4"/>
                </a:solidFill>
              </a:rPr>
              <a:t>W1</a:t>
            </a:r>
          </a:p>
        </p:txBody>
      </p:sp>
      <p:sp>
        <p:nvSpPr>
          <p:cNvPr id="7" name="">
            <a:extLst xmlns:a="http://schemas.openxmlformats.org/drawingml/2006/main">
              <a:ext uri="{FF2B5EF4-FFF2-40B4-BE49-F238E27FC236}">
                <a16:creationId xmlns:a16="http://schemas.microsoft.com/office/drawing/2014/main" id="{CFCD876E-A30A-47C9-B992-789A5686CFDE}"/>
              </a:ext>
            </a:extLst>
          </p:cNvPr>
          <p:cNvSpPr>
            <a:spLocks xmlns:a="http://schemas.openxmlformats.org/drawingml/2006/main" noGrp="1"/>
          </p:cNvSpPr>
          <p:nvPr/>
        </p:nvSpPr>
        <p:spPr>
          <a:xfrm xmlns:a="http://schemas.openxmlformats.org/drawingml/2006/main">
            <a:off x="933450" y="31813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조건/사이트맵 분석</a:t>
            </a:r>
          </a:p>
        </p:txBody>
      </p:sp>
      <p:sp>
        <p:nvSpPr>
          <p:cNvPr id="8" name="">
            <a:extLst xmlns:a="http://schemas.openxmlformats.org/drawingml/2006/main">
              <a:ext uri="{FF2B5EF4-FFF2-40B4-BE49-F238E27FC236}">
                <a16:creationId xmlns:a16="http://schemas.microsoft.com/office/drawing/2014/main" id="{BB8D10C9-1532-4F22-B758-D7AE49F344BD}"/>
              </a:ext>
            </a:extLst>
          </p:cNvPr>
          <p:cNvSpPr>
            <a:spLocks xmlns:a="http://schemas.openxmlformats.org/drawingml/2006/main" noGrp="1"/>
          </p:cNvSpPr>
          <p:nvPr/>
        </p:nvSpPr>
        <p:spPr>
          <a:xfrm xmlns:a="http://schemas.openxmlformats.org/drawingml/2006/main">
            <a:off x="933450" y="3638550"/>
            <a:ext cx="1381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45556C"/>
                </a:solidFill>
              </a:defRPr>
            </a:pPr>
            <a:r>
              <a:rPr sz="1200" b="0">
                <a:solidFill>
                  <a:srgbClr val="45556C"/>
                </a:solidFill>
              </a:rPr>
              <a:t>과제 조건, 구상본, 사이트맵 기준 정리</a:t>
            </a:r>
          </a:p>
        </p:txBody>
      </p:sp>
      <p:sp>
        <p:nvSpPr>
          <p:cNvPr id="9" name="">
            <a:extLst xmlns:a="http://schemas.openxmlformats.org/drawingml/2006/main">
              <a:ext uri="{FF2B5EF4-FFF2-40B4-BE49-F238E27FC236}">
                <a16:creationId xmlns:a16="http://schemas.microsoft.com/office/drawing/2014/main" id="{3A9691D3-CB0F-4576-A1B2-C2222D2180E5}"/>
              </a:ext>
            </a:extLst>
          </p:cNvPr>
          <p:cNvSpPr>
            <a:spLocks xmlns:a="http://schemas.openxmlformats.org/drawingml/2006/main" noGrp="1"/>
          </p:cNvSpPr>
          <p:nvPr/>
        </p:nvSpPr>
        <p:spPr>
          <a:xfrm xmlns:a="http://schemas.openxmlformats.org/drawingml/2006/main">
            <a:off x="2914650" y="2476500"/>
            <a:ext cx="1809750" cy="23812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2A6E5652-F1A7-4A72-BDE7-7965BA403CE7}"/>
              </a:ext>
            </a:extLst>
          </p:cNvPr>
          <p:cNvSpPr>
            <a:spLocks xmlns:a="http://schemas.openxmlformats.org/drawingml/2006/main" noGrp="1"/>
          </p:cNvSpPr>
          <p:nvPr/>
        </p:nvSpPr>
        <p:spPr>
          <a:xfrm xmlns:a="http://schemas.openxmlformats.org/drawingml/2006/main">
            <a:off x="3105150" y="27051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3158D4"/>
                </a:solidFill>
              </a:defRPr>
            </a:pPr>
            <a:r>
              <a:rPr sz="1875" b="1">
                <a:solidFill>
                  <a:srgbClr val="3158D4"/>
                </a:solidFill>
              </a:rPr>
              <a:t>W2</a:t>
            </a:r>
          </a:p>
        </p:txBody>
      </p:sp>
      <p:sp>
        <p:nvSpPr>
          <p:cNvPr id="11" name="">
            <a:extLst xmlns:a="http://schemas.openxmlformats.org/drawingml/2006/main">
              <a:ext uri="{FF2B5EF4-FFF2-40B4-BE49-F238E27FC236}">
                <a16:creationId xmlns:a16="http://schemas.microsoft.com/office/drawing/2014/main" id="{1D1F49A2-54A1-4CDD-A82D-877806CC3014}"/>
              </a:ext>
            </a:extLst>
          </p:cNvPr>
          <p:cNvSpPr>
            <a:spLocks xmlns:a="http://schemas.openxmlformats.org/drawingml/2006/main" noGrp="1"/>
          </p:cNvSpPr>
          <p:nvPr/>
        </p:nvSpPr>
        <p:spPr>
          <a:xfrm xmlns:a="http://schemas.openxmlformats.org/drawingml/2006/main">
            <a:off x="3105150" y="31813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구조 설계</a:t>
            </a:r>
          </a:p>
        </p:txBody>
      </p:sp>
      <p:sp>
        <p:nvSpPr>
          <p:cNvPr id="12" name="">
            <a:extLst xmlns:a="http://schemas.openxmlformats.org/drawingml/2006/main">
              <a:ext uri="{FF2B5EF4-FFF2-40B4-BE49-F238E27FC236}">
                <a16:creationId xmlns:a16="http://schemas.microsoft.com/office/drawing/2014/main" id="{B699311A-CF91-4EF1-9D3E-52F76BBE3187}"/>
              </a:ext>
            </a:extLst>
          </p:cNvPr>
          <p:cNvSpPr>
            <a:spLocks xmlns:a="http://schemas.openxmlformats.org/drawingml/2006/main" noGrp="1"/>
          </p:cNvSpPr>
          <p:nvPr/>
        </p:nvSpPr>
        <p:spPr>
          <a:xfrm xmlns:a="http://schemas.openxmlformats.org/drawingml/2006/main">
            <a:off x="3105150" y="3638550"/>
            <a:ext cx="1381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45556C"/>
                </a:solidFill>
              </a:defRPr>
            </a:pPr>
            <a:r>
              <a:rPr sz="1200" b="0">
                <a:solidFill>
                  <a:srgbClr val="45556C"/>
                </a:solidFill>
              </a:rPr>
              <a:t>HTML/CSS/JS 파일 구조와 localStorage 흐름 설계</a:t>
            </a:r>
          </a:p>
        </p:txBody>
      </p:sp>
      <p:sp>
        <p:nvSpPr>
          <p:cNvPr id="13" name="">
            <a:extLst xmlns:a="http://schemas.openxmlformats.org/drawingml/2006/main">
              <a:ext uri="{FF2B5EF4-FFF2-40B4-BE49-F238E27FC236}">
                <a16:creationId xmlns:a16="http://schemas.microsoft.com/office/drawing/2014/main" id="{E12E7625-171D-422B-BD27-A5FF45AE7222}"/>
              </a:ext>
            </a:extLst>
          </p:cNvPr>
          <p:cNvSpPr>
            <a:spLocks xmlns:a="http://schemas.openxmlformats.org/drawingml/2006/main" noGrp="1"/>
          </p:cNvSpPr>
          <p:nvPr/>
        </p:nvSpPr>
        <p:spPr>
          <a:xfrm xmlns:a="http://schemas.openxmlformats.org/drawingml/2006/main">
            <a:off x="5086350" y="2476500"/>
            <a:ext cx="1809750" cy="23812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7D17920F-0C53-491D-B892-E92F5BB0D117}"/>
              </a:ext>
            </a:extLst>
          </p:cNvPr>
          <p:cNvSpPr>
            <a:spLocks xmlns:a="http://schemas.openxmlformats.org/drawingml/2006/main" noGrp="1"/>
          </p:cNvSpPr>
          <p:nvPr/>
        </p:nvSpPr>
        <p:spPr>
          <a:xfrm xmlns:a="http://schemas.openxmlformats.org/drawingml/2006/main">
            <a:off x="5276850" y="27051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3158D4"/>
                </a:solidFill>
              </a:defRPr>
            </a:pPr>
            <a:r>
              <a:rPr sz="1875" b="1">
                <a:solidFill>
                  <a:srgbClr val="3158D4"/>
                </a:solidFill>
              </a:rPr>
              <a:t>W3</a:t>
            </a:r>
          </a:p>
        </p:txBody>
      </p:sp>
      <p:sp>
        <p:nvSpPr>
          <p:cNvPr id="15" name="">
            <a:extLst xmlns:a="http://schemas.openxmlformats.org/drawingml/2006/main">
              <a:ext uri="{FF2B5EF4-FFF2-40B4-BE49-F238E27FC236}">
                <a16:creationId xmlns:a16="http://schemas.microsoft.com/office/drawing/2014/main" id="{95EB87BC-A86D-4103-98B3-0840182D15D2}"/>
              </a:ext>
            </a:extLst>
          </p:cNvPr>
          <p:cNvSpPr>
            <a:spLocks xmlns:a="http://schemas.openxmlformats.org/drawingml/2006/main" noGrp="1"/>
          </p:cNvSpPr>
          <p:nvPr/>
        </p:nvSpPr>
        <p:spPr>
          <a:xfrm xmlns:a="http://schemas.openxmlformats.org/drawingml/2006/main">
            <a:off x="5276850" y="31813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핵심 구현</a:t>
            </a:r>
          </a:p>
        </p:txBody>
      </p:sp>
      <p:sp>
        <p:nvSpPr>
          <p:cNvPr id="16" name="">
            <a:extLst xmlns:a="http://schemas.openxmlformats.org/drawingml/2006/main">
              <a:ext uri="{FF2B5EF4-FFF2-40B4-BE49-F238E27FC236}">
                <a16:creationId xmlns:a16="http://schemas.microsoft.com/office/drawing/2014/main" id="{56A3B6CD-619D-4699-AA53-05BA9A3A456E}"/>
              </a:ext>
            </a:extLst>
          </p:cNvPr>
          <p:cNvSpPr>
            <a:spLocks xmlns:a="http://schemas.openxmlformats.org/drawingml/2006/main" noGrp="1"/>
          </p:cNvSpPr>
          <p:nvPr/>
        </p:nvSpPr>
        <p:spPr>
          <a:xfrm xmlns:a="http://schemas.openxmlformats.org/drawingml/2006/main">
            <a:off x="5276850" y="3638550"/>
            <a:ext cx="1381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45556C"/>
                </a:solidFill>
              </a:defRPr>
            </a:pPr>
            <a:r>
              <a:rPr sz="1200" b="0">
                <a:solidFill>
                  <a:srgbClr val="45556C"/>
                </a:solidFill>
              </a:rPr>
              <a:t>메인, TODO, 습관, 일기, AI 페이지 구현</a:t>
            </a:r>
          </a:p>
        </p:txBody>
      </p:sp>
      <p:sp>
        <p:nvSpPr>
          <p:cNvPr id="17" name="">
            <a:extLst xmlns:a="http://schemas.openxmlformats.org/drawingml/2006/main">
              <a:ext uri="{FF2B5EF4-FFF2-40B4-BE49-F238E27FC236}">
                <a16:creationId xmlns:a16="http://schemas.microsoft.com/office/drawing/2014/main" id="{0E83E54A-84D0-401A-93F4-D1604B028BCB}"/>
              </a:ext>
            </a:extLst>
          </p:cNvPr>
          <p:cNvSpPr>
            <a:spLocks xmlns:a="http://schemas.openxmlformats.org/drawingml/2006/main" noGrp="1"/>
          </p:cNvSpPr>
          <p:nvPr/>
        </p:nvSpPr>
        <p:spPr>
          <a:xfrm xmlns:a="http://schemas.openxmlformats.org/drawingml/2006/main">
            <a:off x="7258050" y="2476500"/>
            <a:ext cx="1809750" cy="23812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09353E71-BD3D-4FAD-8673-BBDE5B8CD16C}"/>
              </a:ext>
            </a:extLst>
          </p:cNvPr>
          <p:cNvSpPr>
            <a:spLocks xmlns:a="http://schemas.openxmlformats.org/drawingml/2006/main" noGrp="1"/>
          </p:cNvSpPr>
          <p:nvPr/>
        </p:nvSpPr>
        <p:spPr>
          <a:xfrm xmlns:a="http://schemas.openxmlformats.org/drawingml/2006/main">
            <a:off x="7448550" y="27051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3158D4"/>
                </a:solidFill>
              </a:defRPr>
            </a:pPr>
            <a:r>
              <a:rPr sz="1875" b="1">
                <a:solidFill>
                  <a:srgbClr val="3158D4"/>
                </a:solidFill>
              </a:rPr>
              <a:t>W4</a:t>
            </a:r>
          </a:p>
        </p:txBody>
      </p:sp>
      <p:sp>
        <p:nvSpPr>
          <p:cNvPr id="19" name="">
            <a:extLst xmlns:a="http://schemas.openxmlformats.org/drawingml/2006/main">
              <a:ext uri="{FF2B5EF4-FFF2-40B4-BE49-F238E27FC236}">
                <a16:creationId xmlns:a16="http://schemas.microsoft.com/office/drawing/2014/main" id="{6CE52262-42C2-4130-8237-C41FFF49124C}"/>
              </a:ext>
            </a:extLst>
          </p:cNvPr>
          <p:cNvSpPr>
            <a:spLocks xmlns:a="http://schemas.openxmlformats.org/drawingml/2006/main" noGrp="1"/>
          </p:cNvSpPr>
          <p:nvPr/>
        </p:nvSpPr>
        <p:spPr>
          <a:xfrm xmlns:a="http://schemas.openxmlformats.org/drawingml/2006/main">
            <a:off x="7448550" y="31813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UI 수정</a:t>
            </a:r>
          </a:p>
        </p:txBody>
      </p:sp>
      <p:sp>
        <p:nvSpPr>
          <p:cNvPr id="20" name="">
            <a:extLst xmlns:a="http://schemas.openxmlformats.org/drawingml/2006/main">
              <a:ext uri="{FF2B5EF4-FFF2-40B4-BE49-F238E27FC236}">
                <a16:creationId xmlns:a16="http://schemas.microsoft.com/office/drawing/2014/main" id="{4454ED3F-F988-4C65-827C-E40842868D64}"/>
              </a:ext>
            </a:extLst>
          </p:cNvPr>
          <p:cNvSpPr>
            <a:spLocks xmlns:a="http://schemas.openxmlformats.org/drawingml/2006/main" noGrp="1"/>
          </p:cNvSpPr>
          <p:nvPr/>
        </p:nvSpPr>
        <p:spPr>
          <a:xfrm xmlns:a="http://schemas.openxmlformats.org/drawingml/2006/main">
            <a:off x="7448550" y="3638550"/>
            <a:ext cx="1381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45556C"/>
                </a:solidFill>
              </a:defRPr>
            </a:pPr>
            <a:r>
              <a:rPr sz="1200" b="0">
                <a:solidFill>
                  <a:srgbClr val="45556C"/>
                </a:solidFill>
              </a:rPr>
              <a:t>사이트맵 반영, 간격/정렬/캘린더 하단 UI 개선</a:t>
            </a:r>
          </a:p>
        </p:txBody>
      </p:sp>
      <p:sp>
        <p:nvSpPr>
          <p:cNvPr id="21" name="">
            <a:extLst xmlns:a="http://schemas.openxmlformats.org/drawingml/2006/main">
              <a:ext uri="{FF2B5EF4-FFF2-40B4-BE49-F238E27FC236}">
                <a16:creationId xmlns:a16="http://schemas.microsoft.com/office/drawing/2014/main" id="{130ED5E0-BF78-41A0-9404-1A7355D61C72}"/>
              </a:ext>
            </a:extLst>
          </p:cNvPr>
          <p:cNvSpPr>
            <a:spLocks xmlns:a="http://schemas.openxmlformats.org/drawingml/2006/main" noGrp="1"/>
          </p:cNvSpPr>
          <p:nvPr/>
        </p:nvSpPr>
        <p:spPr>
          <a:xfrm xmlns:a="http://schemas.openxmlformats.org/drawingml/2006/main">
            <a:off x="9429750" y="2476500"/>
            <a:ext cx="1809750" cy="23812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F710A12E-3B9F-401A-A86B-C9075A317ADE}"/>
              </a:ext>
            </a:extLst>
          </p:cNvPr>
          <p:cNvSpPr>
            <a:spLocks xmlns:a="http://schemas.openxmlformats.org/drawingml/2006/main" noGrp="1"/>
          </p:cNvSpPr>
          <p:nvPr/>
        </p:nvSpPr>
        <p:spPr>
          <a:xfrm xmlns:a="http://schemas.openxmlformats.org/drawingml/2006/main">
            <a:off x="9620250" y="27051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3158D4"/>
                </a:solidFill>
              </a:defRPr>
            </a:pPr>
            <a:r>
              <a:rPr sz="1875" b="1">
                <a:solidFill>
                  <a:srgbClr val="3158D4"/>
                </a:solidFill>
              </a:rPr>
              <a:t>W5</a:t>
            </a:r>
          </a:p>
        </p:txBody>
      </p:sp>
      <p:sp>
        <p:nvSpPr>
          <p:cNvPr id="23" name="">
            <a:extLst xmlns:a="http://schemas.openxmlformats.org/drawingml/2006/main">
              <a:ext uri="{FF2B5EF4-FFF2-40B4-BE49-F238E27FC236}">
                <a16:creationId xmlns:a16="http://schemas.microsoft.com/office/drawing/2014/main" id="{B45AFCD9-850E-400F-A591-FE331E3CA103}"/>
              </a:ext>
            </a:extLst>
          </p:cNvPr>
          <p:cNvSpPr>
            <a:spLocks xmlns:a="http://schemas.openxmlformats.org/drawingml/2006/main" noGrp="1"/>
          </p:cNvSpPr>
          <p:nvPr/>
        </p:nvSpPr>
        <p:spPr>
          <a:xfrm xmlns:a="http://schemas.openxmlformats.org/drawingml/2006/main">
            <a:off x="9620250" y="31813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20618"/>
                </a:solidFill>
              </a:defRPr>
            </a:pPr>
            <a:r>
              <a:rPr sz="1500" b="1">
                <a:solidFill>
                  <a:srgbClr val="020618"/>
                </a:solidFill>
              </a:rPr>
              <a:t>검증/보고서</a:t>
            </a:r>
          </a:p>
        </p:txBody>
      </p:sp>
      <p:sp>
        <p:nvSpPr>
          <p:cNvPr id="24" name="">
            <a:extLst xmlns:a="http://schemas.openxmlformats.org/drawingml/2006/main">
              <a:ext uri="{FF2B5EF4-FFF2-40B4-BE49-F238E27FC236}">
                <a16:creationId xmlns:a16="http://schemas.microsoft.com/office/drawing/2014/main" id="{BC42C812-40F2-4257-A4EF-08E3514FCA93}"/>
              </a:ext>
            </a:extLst>
          </p:cNvPr>
          <p:cNvSpPr>
            <a:spLocks xmlns:a="http://schemas.openxmlformats.org/drawingml/2006/main" noGrp="1"/>
          </p:cNvSpPr>
          <p:nvPr/>
        </p:nvSpPr>
        <p:spPr>
          <a:xfrm xmlns:a="http://schemas.openxmlformats.org/drawingml/2006/main">
            <a:off x="9620250" y="3638550"/>
            <a:ext cx="1381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45556C"/>
                </a:solidFill>
              </a:defRPr>
            </a:pPr>
            <a:r>
              <a:rPr sz="1200" b="0">
                <a:solidFill>
                  <a:srgbClr val="45556C"/>
                </a:solidFill>
              </a:rPr>
              <a:t>브라우저 검증, AI 기록 정리, 보고서 작성</a:t>
            </a:r>
          </a:p>
        </p:txBody>
      </p:sp>
      <p:sp>
        <p:nvSpPr>
          <p:cNvPr id="25" name="">
            <a:extLst xmlns:a="http://schemas.openxmlformats.org/drawingml/2006/main">
              <a:ext uri="{FF2B5EF4-FFF2-40B4-BE49-F238E27FC236}">
                <a16:creationId xmlns:a16="http://schemas.microsoft.com/office/drawing/2014/main" id="{DD209721-3B6F-4B24-971B-4888A677EDEF}"/>
              </a:ext>
            </a:extLst>
          </p:cNvPr>
          <p:cNvSpPr>
            <a:spLocks xmlns:a="http://schemas.openxmlformats.org/drawingml/2006/main" noGrp="1"/>
          </p:cNvSpPr>
          <p:nvPr/>
        </p:nvSpPr>
        <p:spPr>
          <a:xfrm xmlns:a="http://schemas.openxmlformats.org/drawingml/2006/main">
            <a:off x="8858250" y="6496050"/>
            <a:ext cx="2647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90A1B9"/>
                </a:solidFill>
              </a:defRPr>
            </a:pPr>
            <a:r>
              <a:rPr sz="900" b="0">
                <a:solidFill>
                  <a:srgbClr val="90A1B9"/>
                </a:solidFill>
              </a:rPr>
              <a:t>웹디자인 프로젝트 보고서 | 05</a:t>
            </a:r>
          </a:p>
        </p:txBody>
      </p:sp>
    </p:spTree>
    <p:extLst>
      <p:ext uri="{BB962C8B-B14F-4D97-AF65-F5344CB8AC3E}">
        <p14:creationId xmlns:p14="http://schemas.microsoft.com/office/powerpoint/2010/main" val="1800460871"/>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90E0F23-C12C-4579-80C0-C9001A3DCEBB}"/>
              </a:ext>
            </a:extLst>
          </p:cNvPr>
          <p:cNvSpPr>
            <a:spLocks xmlns:a="http://schemas.openxmlformats.org/drawingml/2006/main" noGrp="1"/>
          </p:cNvSpPr>
          <p:nvPr/>
        </p:nvSpPr>
        <p:spPr>
          <a:xfrm xmlns:a="http://schemas.openxmlformats.org/drawingml/2006/main">
            <a:off x="685800" y="4191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3158D4"/>
                </a:solidFill>
              </a:defRPr>
            </a:pPr>
            <a:r>
              <a:rPr sz="1200" b="1">
                <a:solidFill>
                  <a:srgbClr val="3158D4"/>
                </a:solidFill>
              </a:rPr>
              <a:t>LIFE CYCLE</a:t>
            </a:r>
          </a:p>
        </p:txBody>
      </p:sp>
      <p:sp>
        <p:nvSpPr>
          <p:cNvPr id="2" name="">
            <a:extLst xmlns:a="http://schemas.openxmlformats.org/drawingml/2006/main">
              <a:ext uri="{FF2B5EF4-FFF2-40B4-BE49-F238E27FC236}">
                <a16:creationId xmlns:a16="http://schemas.microsoft.com/office/drawing/2014/main" id="{AD4D6025-736B-439F-8F31-472C3E3FE680}"/>
              </a:ext>
            </a:extLst>
          </p:cNvPr>
          <p:cNvSpPr>
            <a:spLocks xmlns:a="http://schemas.openxmlformats.org/drawingml/2006/main" noGrp="1"/>
          </p:cNvSpPr>
          <p:nvPr/>
        </p:nvSpPr>
        <p:spPr>
          <a:xfrm xmlns:a="http://schemas.openxmlformats.org/drawingml/2006/main">
            <a:off x="685800" y="838200"/>
            <a:ext cx="876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20618"/>
                </a:solidFill>
              </a:defRPr>
            </a:pPr>
            <a:r>
              <a:rPr sz="2850" b="1">
                <a:solidFill>
                  <a:srgbClr val="020618"/>
                </a:solidFill>
              </a:rPr>
              <a:t>주제 관련 자료</a:t>
            </a:r>
          </a:p>
        </p:txBody>
      </p:sp>
      <p:sp>
        <p:nvSpPr>
          <p:cNvPr id="3" name="">
            <a:extLst xmlns:a="http://schemas.openxmlformats.org/drawingml/2006/main">
              <a:ext uri="{FF2B5EF4-FFF2-40B4-BE49-F238E27FC236}">
                <a16:creationId xmlns:a16="http://schemas.microsoft.com/office/drawing/2014/main" id="{8379BF51-E201-4F60-9C0A-8D84EC70ECBE}"/>
              </a:ext>
            </a:extLst>
          </p:cNvPr>
          <p:cNvSpPr>
            <a:spLocks xmlns:a="http://schemas.openxmlformats.org/drawingml/2006/main" noGrp="1"/>
          </p:cNvSpPr>
          <p:nvPr/>
        </p:nvSpPr>
        <p:spPr>
          <a:xfrm xmlns:a="http://schemas.openxmlformats.org/drawingml/2006/main">
            <a:off x="704850" y="1409700"/>
            <a:ext cx="876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5556C"/>
                </a:solidFill>
              </a:defRPr>
            </a:pPr>
            <a:r>
              <a:rPr sz="1350" b="0">
                <a:solidFill>
                  <a:srgbClr val="45556C"/>
                </a:solidFill>
              </a:rPr>
              <a:t>기존 서비스에서 참고한 정보 구조와 차별점</a:t>
            </a:r>
          </a:p>
        </p:txBody>
      </p:sp>
      <p:sp>
        <p:nvSpPr>
          <p:cNvPr id="4" name="">
            <a:extLst xmlns:a="http://schemas.openxmlformats.org/drawingml/2006/main">
              <a:ext uri="{FF2B5EF4-FFF2-40B4-BE49-F238E27FC236}">
                <a16:creationId xmlns:a16="http://schemas.microsoft.com/office/drawing/2014/main" id="{065AB250-A342-45E2-83E7-A12849306454}"/>
              </a:ext>
            </a:extLst>
          </p:cNvPr>
          <p:cNvSpPr>
            <a:spLocks xmlns:a="http://schemas.openxmlformats.org/drawingml/2006/main" noGrp="1"/>
          </p:cNvSpPr>
          <p:nvPr/>
        </p:nvSpPr>
        <p:spPr>
          <a:xfrm xmlns:a="http://schemas.openxmlformats.org/drawingml/2006/main">
            <a:off x="685800" y="1866900"/>
            <a:ext cx="1082040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5" name="">
            <a:extLst xmlns:a="http://schemas.openxmlformats.org/drawingml/2006/main">
              <a:ext uri="{FF2B5EF4-FFF2-40B4-BE49-F238E27FC236}">
                <a16:creationId xmlns:a16="http://schemas.microsoft.com/office/drawing/2014/main" id="{4E5F8E4E-D2BA-47EC-ABA7-EDA3C7CD570C}"/>
              </a:ext>
            </a:extLst>
          </p:cNvPr>
          <p:cNvSpPr>
            <a:spLocks xmlns:a="http://schemas.openxmlformats.org/drawingml/2006/main" noGrp="1"/>
          </p:cNvSpPr>
          <p:nvPr/>
        </p:nvSpPr>
        <p:spPr>
          <a:xfrm xmlns:a="http://schemas.openxmlformats.org/drawingml/2006/main">
            <a:off x="685800" y="2333625"/>
            <a:ext cx="3238500" cy="2667000"/>
          </a:xfrm>
          <a:prstGeom xmlns:a="http://schemas.openxmlformats.org/drawingml/2006/main" prst="roundRect">
            <a:avLst>
              <a:gd name="adj" fmla="val 6429"/>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F176D419-DC84-4B8E-BD1C-FA880B0A9515}"/>
              </a:ext>
            </a:extLst>
          </p:cNvPr>
          <p:cNvSpPr>
            <a:spLocks xmlns:a="http://schemas.openxmlformats.org/drawingml/2006/main" noGrp="1"/>
          </p:cNvSpPr>
          <p:nvPr/>
        </p:nvSpPr>
        <p:spPr>
          <a:xfrm xmlns:a="http://schemas.openxmlformats.org/drawingml/2006/main">
            <a:off x="4476750" y="2333625"/>
            <a:ext cx="3238500" cy="2667000"/>
          </a:xfrm>
          <a:prstGeom xmlns:a="http://schemas.openxmlformats.org/drawingml/2006/main" prst="roundRect">
            <a:avLst>
              <a:gd name="adj" fmla="val 6429"/>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B8DE3269-CB9B-4D57-8D54-D494D8E149BD}"/>
              </a:ext>
            </a:extLst>
          </p:cNvPr>
          <p:cNvSpPr>
            <a:spLocks xmlns:a="http://schemas.openxmlformats.org/drawingml/2006/main" noGrp="1"/>
          </p:cNvSpPr>
          <p:nvPr/>
        </p:nvSpPr>
        <p:spPr>
          <a:xfrm xmlns:a="http://schemas.openxmlformats.org/drawingml/2006/main">
            <a:off x="8267700" y="2333625"/>
            <a:ext cx="3238500" cy="2667000"/>
          </a:xfrm>
          <a:prstGeom xmlns:a="http://schemas.openxmlformats.org/drawingml/2006/main" prst="roundRect">
            <a:avLst>
              <a:gd name="adj" fmla="val 6429"/>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6D923B4C-798B-46C8-B3EF-940A7A87B288}"/>
              </a:ext>
            </a:extLst>
          </p:cNvPr>
          <p:cNvSpPr>
            <a:spLocks xmlns:a="http://schemas.openxmlformats.org/drawingml/2006/main" noGrp="1"/>
          </p:cNvSpPr>
          <p:nvPr/>
        </p:nvSpPr>
        <p:spPr>
          <a:xfrm xmlns:a="http://schemas.openxmlformats.org/drawingml/2006/main">
            <a:off x="971550" y="26670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3158D4"/>
                </a:solidFill>
              </a:defRPr>
            </a:pPr>
            <a:r>
              <a:rPr sz="1650" b="1">
                <a:solidFill>
                  <a:srgbClr val="3158D4"/>
                </a:solidFill>
              </a:rPr>
              <a:t>캘린더형 일정 관리</a:t>
            </a:r>
          </a:p>
        </p:txBody>
      </p:sp>
      <p:sp>
        <p:nvSpPr>
          <p:cNvPr id="9" name="">
            <a:extLst xmlns:a="http://schemas.openxmlformats.org/drawingml/2006/main">
              <a:ext uri="{FF2B5EF4-FFF2-40B4-BE49-F238E27FC236}">
                <a16:creationId xmlns:a16="http://schemas.microsoft.com/office/drawing/2014/main" id="{406DF56F-8021-40AC-A33F-51D4AFC44ECA}"/>
              </a:ext>
            </a:extLst>
          </p:cNvPr>
          <p:cNvSpPr>
            <a:spLocks xmlns:a="http://schemas.openxmlformats.org/drawingml/2006/main" noGrp="1"/>
          </p:cNvSpPr>
          <p:nvPr/>
        </p:nvSpPr>
        <p:spPr>
          <a:xfrm xmlns:a="http://schemas.openxmlformats.org/drawingml/2006/main">
            <a:off x="971550" y="3143250"/>
            <a:ext cx="2571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20618"/>
                </a:solidFill>
              </a:defRPr>
            </a:pPr>
            <a:r>
              <a:rPr sz="1275" b="0">
                <a:solidFill>
                  <a:srgbClr val="020618"/>
                </a:solidFill>
              </a:rPr>
              <a:t>• 날짜 중심으로 할 일 확인</a:t>
            </a:r>
          </a:p>
          <a:p xmlns:a="http://schemas.openxmlformats.org/drawingml/2006/main">
            <a:pPr algn="l">
              <a:defRPr sz="1275" b="0">
                <a:solidFill>
                  <a:srgbClr val="020618"/>
                </a:solidFill>
              </a:defRPr>
            </a:pPr>
            <a:r>
              <a:rPr sz="1275" b="0">
                <a:solidFill>
                  <a:srgbClr val="020618"/>
                </a:solidFill>
              </a:rPr>
              <a:t>• 월 이동과 날짜별 항목 표시</a:t>
            </a:r>
          </a:p>
          <a:p xmlns:a="http://schemas.openxmlformats.org/drawingml/2006/main">
            <a:pPr algn="l">
              <a:defRPr sz="1275" b="0">
                <a:solidFill>
                  <a:srgbClr val="020618"/>
                </a:solidFill>
              </a:defRPr>
            </a:pPr>
            <a:r>
              <a:rPr sz="1275" b="0">
                <a:solidFill>
                  <a:srgbClr val="020618"/>
                </a:solidFill>
              </a:rPr>
              <a:t>• LIFE CYCLE은 TODO와 한 줄 일기를 함께 표시</a:t>
            </a:r>
          </a:p>
        </p:txBody>
      </p:sp>
      <p:sp>
        <p:nvSpPr>
          <p:cNvPr id="10" name="">
            <a:extLst xmlns:a="http://schemas.openxmlformats.org/drawingml/2006/main">
              <a:ext uri="{FF2B5EF4-FFF2-40B4-BE49-F238E27FC236}">
                <a16:creationId xmlns:a16="http://schemas.microsoft.com/office/drawing/2014/main" id="{C19D1111-A83E-4172-91F6-ED69F0228F5A}"/>
              </a:ext>
            </a:extLst>
          </p:cNvPr>
          <p:cNvSpPr>
            <a:spLocks xmlns:a="http://schemas.openxmlformats.org/drawingml/2006/main" noGrp="1"/>
          </p:cNvSpPr>
          <p:nvPr/>
        </p:nvSpPr>
        <p:spPr>
          <a:xfrm xmlns:a="http://schemas.openxmlformats.org/drawingml/2006/main">
            <a:off x="4762500" y="26670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3158D4"/>
                </a:solidFill>
              </a:defRPr>
            </a:pPr>
            <a:r>
              <a:rPr sz="1650" b="1">
                <a:solidFill>
                  <a:srgbClr val="3158D4"/>
                </a:solidFill>
              </a:rPr>
              <a:t>습관 트래커</a:t>
            </a:r>
          </a:p>
        </p:txBody>
      </p:sp>
      <p:sp>
        <p:nvSpPr>
          <p:cNvPr id="11" name="">
            <a:extLst xmlns:a="http://schemas.openxmlformats.org/drawingml/2006/main">
              <a:ext uri="{FF2B5EF4-FFF2-40B4-BE49-F238E27FC236}">
                <a16:creationId xmlns:a16="http://schemas.microsoft.com/office/drawing/2014/main" id="{6D171952-93D6-4AA2-9436-DF7A09C0A209}"/>
              </a:ext>
            </a:extLst>
          </p:cNvPr>
          <p:cNvSpPr>
            <a:spLocks xmlns:a="http://schemas.openxmlformats.org/drawingml/2006/main" noGrp="1"/>
          </p:cNvSpPr>
          <p:nvPr/>
        </p:nvSpPr>
        <p:spPr>
          <a:xfrm xmlns:a="http://schemas.openxmlformats.org/drawingml/2006/main">
            <a:off x="4762500" y="3143250"/>
            <a:ext cx="2571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20618"/>
                </a:solidFill>
              </a:defRPr>
            </a:pPr>
            <a:r>
              <a:rPr sz="1275" b="0">
                <a:solidFill>
                  <a:srgbClr val="020618"/>
                </a:solidFill>
              </a:rPr>
              <a:t>• 반복 습관 완료 여부 관리</a:t>
            </a:r>
          </a:p>
          <a:p xmlns:a="http://schemas.openxmlformats.org/drawingml/2006/main">
            <a:pPr algn="l">
              <a:defRPr sz="1275" b="0">
                <a:solidFill>
                  <a:srgbClr val="020618"/>
                </a:solidFill>
              </a:defRPr>
            </a:pPr>
            <a:r>
              <a:rPr sz="1275" b="0">
                <a:solidFill>
                  <a:srgbClr val="020618"/>
                </a:solidFill>
              </a:rPr>
              <a:t>• 연속 수행/달성률 강조</a:t>
            </a:r>
          </a:p>
          <a:p xmlns:a="http://schemas.openxmlformats.org/drawingml/2006/main">
            <a:pPr algn="l">
              <a:defRPr sz="1275" b="0">
                <a:solidFill>
                  <a:srgbClr val="020618"/>
                </a:solidFill>
              </a:defRPr>
            </a:pPr>
            <a:r>
              <a:rPr sz="1275" b="0">
                <a:solidFill>
                  <a:srgbClr val="020618"/>
                </a:solidFill>
              </a:rPr>
              <a:t>• 순위와 평균 달성률을 사이드 영역에 표시</a:t>
            </a:r>
          </a:p>
        </p:txBody>
      </p:sp>
      <p:sp>
        <p:nvSpPr>
          <p:cNvPr id="12" name="">
            <a:extLst xmlns:a="http://schemas.openxmlformats.org/drawingml/2006/main">
              <a:ext uri="{FF2B5EF4-FFF2-40B4-BE49-F238E27FC236}">
                <a16:creationId xmlns:a16="http://schemas.microsoft.com/office/drawing/2014/main" id="{A8788EB9-3456-4C6E-A50A-431C1E39A7B4}"/>
              </a:ext>
            </a:extLst>
          </p:cNvPr>
          <p:cNvSpPr>
            <a:spLocks xmlns:a="http://schemas.openxmlformats.org/drawingml/2006/main" noGrp="1"/>
          </p:cNvSpPr>
          <p:nvPr/>
        </p:nvSpPr>
        <p:spPr>
          <a:xfrm xmlns:a="http://schemas.openxmlformats.org/drawingml/2006/main">
            <a:off x="8553450" y="26670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3158D4"/>
                </a:solidFill>
              </a:defRPr>
            </a:pPr>
            <a:r>
              <a:rPr sz="1650" b="1">
                <a:solidFill>
                  <a:srgbClr val="3158D4"/>
                </a:solidFill>
              </a:rPr>
              <a:t>일기/AI 조언 앱</a:t>
            </a:r>
          </a:p>
        </p:txBody>
      </p:sp>
      <p:sp>
        <p:nvSpPr>
          <p:cNvPr id="13" name="">
            <a:extLst xmlns:a="http://schemas.openxmlformats.org/drawingml/2006/main">
              <a:ext uri="{FF2B5EF4-FFF2-40B4-BE49-F238E27FC236}">
                <a16:creationId xmlns:a16="http://schemas.microsoft.com/office/drawing/2014/main" id="{CEC20056-E039-4FEE-81C0-6F0B9C108529}"/>
              </a:ext>
            </a:extLst>
          </p:cNvPr>
          <p:cNvSpPr>
            <a:spLocks xmlns:a="http://schemas.openxmlformats.org/drawingml/2006/main" noGrp="1"/>
          </p:cNvSpPr>
          <p:nvPr/>
        </p:nvSpPr>
        <p:spPr>
          <a:xfrm xmlns:a="http://schemas.openxmlformats.org/drawingml/2006/main">
            <a:off x="8553450" y="3143250"/>
            <a:ext cx="2571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20618"/>
                </a:solidFill>
              </a:defRPr>
            </a:pPr>
            <a:r>
              <a:rPr sz="1275" b="0">
                <a:solidFill>
                  <a:srgbClr val="020618"/>
                </a:solidFill>
              </a:rPr>
              <a:t>• 하루 기록을 짧게 남김</a:t>
            </a:r>
          </a:p>
          <a:p xmlns:a="http://schemas.openxmlformats.org/drawingml/2006/main">
            <a:pPr algn="l">
              <a:defRPr sz="1275" b="0">
                <a:solidFill>
                  <a:srgbClr val="020618"/>
                </a:solidFill>
              </a:defRPr>
            </a:pPr>
            <a:r>
              <a:rPr sz="1275" b="0">
                <a:solidFill>
                  <a:srgbClr val="020618"/>
                </a:solidFill>
              </a:rPr>
              <a:t>• 상황 기반 조언 제공</a:t>
            </a:r>
          </a:p>
          <a:p xmlns:a="http://schemas.openxmlformats.org/drawingml/2006/main">
            <a:pPr algn="l">
              <a:defRPr sz="1275" b="0">
                <a:solidFill>
                  <a:srgbClr val="020618"/>
                </a:solidFill>
              </a:defRPr>
            </a:pPr>
            <a:r>
              <a:rPr sz="1275" b="0">
                <a:solidFill>
                  <a:srgbClr val="020618"/>
                </a:solidFill>
              </a:rPr>
              <a:t>• API 키를 저장하지 않는 방식으로 보안 고려</a:t>
            </a:r>
          </a:p>
        </p:txBody>
      </p:sp>
      <p:sp>
        <p:nvSpPr>
          <p:cNvPr id="14" name="">
            <a:extLst xmlns:a="http://schemas.openxmlformats.org/drawingml/2006/main">
              <a:ext uri="{FF2B5EF4-FFF2-40B4-BE49-F238E27FC236}">
                <a16:creationId xmlns:a16="http://schemas.microsoft.com/office/drawing/2014/main" id="{01FAE652-35F5-41FF-889E-8D873CB5019B}"/>
              </a:ext>
            </a:extLst>
          </p:cNvPr>
          <p:cNvSpPr>
            <a:spLocks xmlns:a="http://schemas.openxmlformats.org/drawingml/2006/main" noGrp="1"/>
          </p:cNvSpPr>
          <p:nvPr/>
        </p:nvSpPr>
        <p:spPr>
          <a:xfrm xmlns:a="http://schemas.openxmlformats.org/drawingml/2006/main">
            <a:off x="8858250" y="6496050"/>
            <a:ext cx="2647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90A1B9"/>
                </a:solidFill>
              </a:defRPr>
            </a:pPr>
            <a:r>
              <a:rPr sz="900" b="0">
                <a:solidFill>
                  <a:srgbClr val="90A1B9"/>
                </a:solidFill>
              </a:rPr>
              <a:t>웹디자인 프로젝트 보고서 | 06</a:t>
            </a:r>
          </a:p>
        </p:txBody>
      </p:sp>
    </p:spTree>
    <p:extLst>
      <p:ext uri="{BB962C8B-B14F-4D97-AF65-F5344CB8AC3E}">
        <p14:creationId xmlns:p14="http://schemas.microsoft.com/office/powerpoint/2010/main" val="1145699366"/>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9ACD988-6FAD-4241-978A-06C11EEE1B68}"/>
              </a:ext>
            </a:extLst>
          </p:cNvPr>
          <p:cNvSpPr>
            <a:spLocks xmlns:a="http://schemas.openxmlformats.org/drawingml/2006/main" noGrp="1"/>
          </p:cNvSpPr>
          <p:nvPr/>
        </p:nvSpPr>
        <p:spPr>
          <a:xfrm xmlns:a="http://schemas.openxmlformats.org/drawingml/2006/main">
            <a:off x="685800" y="4191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3158D4"/>
                </a:solidFill>
              </a:defRPr>
            </a:pPr>
            <a:r>
              <a:rPr sz="1200" b="1">
                <a:solidFill>
                  <a:srgbClr val="3158D4"/>
                </a:solidFill>
              </a:rPr>
              <a:t>LIFE CYCLE</a:t>
            </a:r>
          </a:p>
        </p:txBody>
      </p:sp>
      <p:sp>
        <p:nvSpPr>
          <p:cNvPr id="2" name="">
            <a:extLst xmlns:a="http://schemas.openxmlformats.org/drawingml/2006/main">
              <a:ext uri="{FF2B5EF4-FFF2-40B4-BE49-F238E27FC236}">
                <a16:creationId xmlns:a16="http://schemas.microsoft.com/office/drawing/2014/main" id="{BB81109D-78D2-466D-B751-8C057BA1CC1E}"/>
              </a:ext>
            </a:extLst>
          </p:cNvPr>
          <p:cNvSpPr>
            <a:spLocks xmlns:a="http://schemas.openxmlformats.org/drawingml/2006/main" noGrp="1"/>
          </p:cNvSpPr>
          <p:nvPr/>
        </p:nvSpPr>
        <p:spPr>
          <a:xfrm xmlns:a="http://schemas.openxmlformats.org/drawingml/2006/main">
            <a:off x="685800" y="838200"/>
            <a:ext cx="876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20618"/>
                </a:solidFill>
              </a:defRPr>
            </a:pPr>
            <a:r>
              <a:rPr sz="2850" b="1">
                <a:solidFill>
                  <a:srgbClr val="020618"/>
                </a:solidFill>
              </a:rPr>
              <a:t>사이트맵</a:t>
            </a:r>
          </a:p>
        </p:txBody>
      </p:sp>
      <p:sp>
        <p:nvSpPr>
          <p:cNvPr id="3" name="">
            <a:extLst xmlns:a="http://schemas.openxmlformats.org/drawingml/2006/main">
              <a:ext uri="{FF2B5EF4-FFF2-40B4-BE49-F238E27FC236}">
                <a16:creationId xmlns:a16="http://schemas.microsoft.com/office/drawing/2014/main" id="{FAD6BC61-6016-4382-AAA0-9CFBA7C7B155}"/>
              </a:ext>
            </a:extLst>
          </p:cNvPr>
          <p:cNvSpPr>
            <a:spLocks xmlns:a="http://schemas.openxmlformats.org/drawingml/2006/main" noGrp="1"/>
          </p:cNvSpPr>
          <p:nvPr/>
        </p:nvSpPr>
        <p:spPr>
          <a:xfrm xmlns:a="http://schemas.openxmlformats.org/drawingml/2006/main">
            <a:off x="704850" y="1409700"/>
            <a:ext cx="876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5556C"/>
                </a:solidFill>
              </a:defRPr>
            </a:pPr>
            <a:r>
              <a:rPr sz="1350" b="0">
                <a:solidFill>
                  <a:srgbClr val="45556C"/>
                </a:solidFill>
              </a:rPr>
              <a:t>최종 구현 화면 구조</a:t>
            </a:r>
          </a:p>
        </p:txBody>
      </p:sp>
      <p:sp>
        <p:nvSpPr>
          <p:cNvPr id="4" name="">
            <a:extLst xmlns:a="http://schemas.openxmlformats.org/drawingml/2006/main">
              <a:ext uri="{FF2B5EF4-FFF2-40B4-BE49-F238E27FC236}">
                <a16:creationId xmlns:a16="http://schemas.microsoft.com/office/drawing/2014/main" id="{42DE4ABE-1629-441C-B6B7-E0F266C4E09D}"/>
              </a:ext>
            </a:extLst>
          </p:cNvPr>
          <p:cNvSpPr>
            <a:spLocks xmlns:a="http://schemas.openxmlformats.org/drawingml/2006/main" noGrp="1"/>
          </p:cNvSpPr>
          <p:nvPr/>
        </p:nvSpPr>
        <p:spPr>
          <a:xfrm xmlns:a="http://schemas.openxmlformats.org/drawingml/2006/main">
            <a:off x="685800" y="1866900"/>
            <a:ext cx="1082040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5" name="">
            <a:extLst xmlns:a="http://schemas.openxmlformats.org/drawingml/2006/main">
              <a:ext uri="{FF2B5EF4-FFF2-40B4-BE49-F238E27FC236}">
                <a16:creationId xmlns:a16="http://schemas.microsoft.com/office/drawing/2014/main" id="{9F320144-3E79-4F63-8F9F-EB2E1268AC22}"/>
              </a:ext>
            </a:extLst>
          </p:cNvPr>
          <p:cNvSpPr>
            <a:spLocks xmlns:a="http://schemas.openxmlformats.org/drawingml/2006/main" noGrp="1"/>
          </p:cNvSpPr>
          <p:nvPr/>
        </p:nvSpPr>
        <p:spPr>
          <a:xfrm xmlns:a="http://schemas.openxmlformats.org/drawingml/2006/main">
            <a:off x="4762500" y="2171700"/>
            <a:ext cx="1524000" cy="552450"/>
          </a:xfrm>
          <a:prstGeom xmlns:a="http://schemas.openxmlformats.org/drawingml/2006/main" prst="roundRect">
            <a:avLst>
              <a:gd name="adj" fmla="val 27586"/>
            </a:avLst>
          </a:prstGeom>
          <a:solidFill xmlns:a="http://schemas.openxmlformats.org/drawingml/2006/main">
            <a:srgbClr val="FFFFFF"/>
          </a:solidFill>
          <a:ln xmlns:a="http://schemas.openxmlformats.org/drawingml/2006/main" w="9525">
            <a:solidFill>
              <a:srgbClr val="3158D4"/>
            </a:solidFill>
            <a:prstDash val="solid"/>
          </a:ln>
        </p:spPr>
      </p:sp>
      <p:sp>
        <p:nvSpPr>
          <p:cNvPr id="6" name="">
            <a:extLst xmlns:a="http://schemas.openxmlformats.org/drawingml/2006/main">
              <a:ext uri="{FF2B5EF4-FFF2-40B4-BE49-F238E27FC236}">
                <a16:creationId xmlns:a16="http://schemas.microsoft.com/office/drawing/2014/main" id="{CA35BDE9-49DB-41FC-8B3F-A338324FD242}"/>
              </a:ext>
            </a:extLst>
          </p:cNvPr>
          <p:cNvSpPr>
            <a:spLocks xmlns:a="http://schemas.openxmlformats.org/drawingml/2006/main" noGrp="1"/>
          </p:cNvSpPr>
          <p:nvPr/>
        </p:nvSpPr>
        <p:spPr>
          <a:xfrm xmlns:a="http://schemas.openxmlformats.org/drawingml/2006/main">
            <a:off x="4876800" y="2343150"/>
            <a:ext cx="129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3158D4"/>
                </a:solidFill>
              </a:defRPr>
            </a:pPr>
            <a:r>
              <a:rPr sz="1350" b="1">
                <a:solidFill>
                  <a:srgbClr val="3158D4"/>
                </a:solidFill>
              </a:rPr>
              <a:t>메인 대시보드</a:t>
            </a:r>
          </a:p>
        </p:txBody>
      </p:sp>
      <p:sp>
        <p:nvSpPr>
          <p:cNvPr id="7" name="">
            <a:extLst xmlns:a="http://schemas.openxmlformats.org/drawingml/2006/main">
              <a:ext uri="{FF2B5EF4-FFF2-40B4-BE49-F238E27FC236}">
                <a16:creationId xmlns:a16="http://schemas.microsoft.com/office/drawing/2014/main" id="{53D75A07-1CBB-46C6-B562-7F9C8623F929}"/>
              </a:ext>
            </a:extLst>
          </p:cNvPr>
          <p:cNvSpPr>
            <a:spLocks xmlns:a="http://schemas.openxmlformats.org/drawingml/2006/main" noGrp="1"/>
          </p:cNvSpPr>
          <p:nvPr/>
        </p:nvSpPr>
        <p:spPr>
          <a:xfrm xmlns:a="http://schemas.openxmlformats.org/drawingml/2006/main">
            <a:off x="1143000" y="3857625"/>
            <a:ext cx="1524000" cy="552450"/>
          </a:xfrm>
          <a:prstGeom xmlns:a="http://schemas.openxmlformats.org/drawingml/2006/main" prst="roundRect">
            <a:avLst>
              <a:gd name="adj" fmla="val 27586"/>
            </a:avLst>
          </a:prstGeom>
          <a:solidFill xmlns:a="http://schemas.openxmlformats.org/drawingml/2006/main">
            <a:srgbClr val="FFFFFF"/>
          </a:solidFill>
          <a:ln xmlns:a="http://schemas.openxmlformats.org/drawingml/2006/main" w="9525">
            <a:solidFill>
              <a:srgbClr val="2FA66F"/>
            </a:solidFill>
            <a:prstDash val="solid"/>
          </a:ln>
        </p:spPr>
      </p:sp>
      <p:sp>
        <p:nvSpPr>
          <p:cNvPr id="8" name="">
            <a:extLst xmlns:a="http://schemas.openxmlformats.org/drawingml/2006/main">
              <a:ext uri="{FF2B5EF4-FFF2-40B4-BE49-F238E27FC236}">
                <a16:creationId xmlns:a16="http://schemas.microsoft.com/office/drawing/2014/main" id="{D9411929-FE24-4C7C-AE2A-6A7B6608805A}"/>
              </a:ext>
            </a:extLst>
          </p:cNvPr>
          <p:cNvSpPr>
            <a:spLocks xmlns:a="http://schemas.openxmlformats.org/drawingml/2006/main" noGrp="1"/>
          </p:cNvSpPr>
          <p:nvPr/>
        </p:nvSpPr>
        <p:spPr>
          <a:xfrm xmlns:a="http://schemas.openxmlformats.org/drawingml/2006/main">
            <a:off x="1257300" y="4029075"/>
            <a:ext cx="129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2FA66F"/>
                </a:solidFill>
              </a:defRPr>
            </a:pPr>
            <a:r>
              <a:rPr sz="1350" b="1">
                <a:solidFill>
                  <a:srgbClr val="2FA66F"/>
                </a:solidFill>
              </a:rPr>
              <a:t>TODO</a:t>
            </a:r>
          </a:p>
        </p:txBody>
      </p:sp>
      <p:sp>
        <p:nvSpPr>
          <p:cNvPr id="9" name="">
            <a:extLst xmlns:a="http://schemas.openxmlformats.org/drawingml/2006/main">
              <a:ext uri="{FF2B5EF4-FFF2-40B4-BE49-F238E27FC236}">
                <a16:creationId xmlns:a16="http://schemas.microsoft.com/office/drawing/2014/main" id="{64DABC0F-C9EC-4D05-B91F-F49121BF5939}"/>
              </a:ext>
            </a:extLst>
          </p:cNvPr>
          <p:cNvSpPr>
            <a:spLocks xmlns:a="http://schemas.openxmlformats.org/drawingml/2006/main" noGrp="1"/>
          </p:cNvSpPr>
          <p:nvPr/>
        </p:nvSpPr>
        <p:spPr>
          <a:xfrm xmlns:a="http://schemas.openxmlformats.org/drawingml/2006/main">
            <a:off x="3238500" y="3857625"/>
            <a:ext cx="1524000" cy="552450"/>
          </a:xfrm>
          <a:prstGeom xmlns:a="http://schemas.openxmlformats.org/drawingml/2006/main" prst="roundRect">
            <a:avLst>
              <a:gd name="adj" fmla="val 27586"/>
            </a:avLst>
          </a:prstGeom>
          <a:solidFill xmlns:a="http://schemas.openxmlformats.org/drawingml/2006/main">
            <a:srgbClr val="FFFFFF"/>
          </a:solidFill>
          <a:ln xmlns:a="http://schemas.openxmlformats.org/drawingml/2006/main" w="9525">
            <a:solidFill>
              <a:srgbClr val="D98A15"/>
            </a:solidFill>
            <a:prstDash val="solid"/>
          </a:ln>
        </p:spPr>
      </p:sp>
      <p:sp>
        <p:nvSpPr>
          <p:cNvPr id="10" name="">
            <a:extLst xmlns:a="http://schemas.openxmlformats.org/drawingml/2006/main">
              <a:ext uri="{FF2B5EF4-FFF2-40B4-BE49-F238E27FC236}">
                <a16:creationId xmlns:a16="http://schemas.microsoft.com/office/drawing/2014/main" id="{4A9F8B02-FAF4-49BE-8747-D3BBD279A3F8}"/>
              </a:ext>
            </a:extLst>
          </p:cNvPr>
          <p:cNvSpPr>
            <a:spLocks xmlns:a="http://schemas.openxmlformats.org/drawingml/2006/main" noGrp="1"/>
          </p:cNvSpPr>
          <p:nvPr/>
        </p:nvSpPr>
        <p:spPr>
          <a:xfrm xmlns:a="http://schemas.openxmlformats.org/drawingml/2006/main">
            <a:off x="3352800" y="4029075"/>
            <a:ext cx="129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D98A15"/>
                </a:solidFill>
              </a:defRPr>
            </a:pPr>
            <a:r>
              <a:rPr sz="1350" b="1">
                <a:solidFill>
                  <a:srgbClr val="D98A15"/>
                </a:solidFill>
              </a:rPr>
              <a:t>습관</a:t>
            </a:r>
          </a:p>
        </p:txBody>
      </p:sp>
      <p:sp>
        <p:nvSpPr>
          <p:cNvPr id="11" name="">
            <a:extLst xmlns:a="http://schemas.openxmlformats.org/drawingml/2006/main">
              <a:ext uri="{FF2B5EF4-FFF2-40B4-BE49-F238E27FC236}">
                <a16:creationId xmlns:a16="http://schemas.microsoft.com/office/drawing/2014/main" id="{0AE097FF-1128-4A4E-AEF5-86175068B747}"/>
              </a:ext>
            </a:extLst>
          </p:cNvPr>
          <p:cNvSpPr>
            <a:spLocks xmlns:a="http://schemas.openxmlformats.org/drawingml/2006/main" noGrp="1"/>
          </p:cNvSpPr>
          <p:nvPr/>
        </p:nvSpPr>
        <p:spPr>
          <a:xfrm xmlns:a="http://schemas.openxmlformats.org/drawingml/2006/main">
            <a:off x="5334000" y="3857625"/>
            <a:ext cx="1524000" cy="552450"/>
          </a:xfrm>
          <a:prstGeom xmlns:a="http://schemas.openxmlformats.org/drawingml/2006/main" prst="roundRect">
            <a:avLst>
              <a:gd name="adj" fmla="val 27586"/>
            </a:avLst>
          </a:prstGeom>
          <a:solidFill xmlns:a="http://schemas.openxmlformats.org/drawingml/2006/main">
            <a:srgbClr val="FFFFFF"/>
          </a:solidFill>
          <a:ln xmlns:a="http://schemas.openxmlformats.org/drawingml/2006/main" w="9525">
            <a:solidFill>
              <a:srgbClr val="D94A4A"/>
            </a:solidFill>
            <a:prstDash val="solid"/>
          </a:ln>
        </p:spPr>
      </p:sp>
      <p:sp>
        <p:nvSpPr>
          <p:cNvPr id="12" name="">
            <a:extLst xmlns:a="http://schemas.openxmlformats.org/drawingml/2006/main">
              <a:ext uri="{FF2B5EF4-FFF2-40B4-BE49-F238E27FC236}">
                <a16:creationId xmlns:a16="http://schemas.microsoft.com/office/drawing/2014/main" id="{9708F712-65EA-4529-BBDE-B5C4B0422456}"/>
              </a:ext>
            </a:extLst>
          </p:cNvPr>
          <p:cNvSpPr>
            <a:spLocks xmlns:a="http://schemas.openxmlformats.org/drawingml/2006/main" noGrp="1"/>
          </p:cNvSpPr>
          <p:nvPr/>
        </p:nvSpPr>
        <p:spPr>
          <a:xfrm xmlns:a="http://schemas.openxmlformats.org/drawingml/2006/main">
            <a:off x="5448300" y="4029075"/>
            <a:ext cx="129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D94A4A"/>
                </a:solidFill>
              </a:defRPr>
            </a:pPr>
            <a:r>
              <a:rPr sz="1350" b="1">
                <a:solidFill>
                  <a:srgbClr val="D94A4A"/>
                </a:solidFill>
              </a:rPr>
              <a:t>일기</a:t>
            </a:r>
          </a:p>
        </p:txBody>
      </p:sp>
      <p:sp>
        <p:nvSpPr>
          <p:cNvPr id="13" name="">
            <a:extLst xmlns:a="http://schemas.openxmlformats.org/drawingml/2006/main">
              <a:ext uri="{FF2B5EF4-FFF2-40B4-BE49-F238E27FC236}">
                <a16:creationId xmlns:a16="http://schemas.microsoft.com/office/drawing/2014/main" id="{CAB7C3B2-0D8D-4F69-B090-7501FE4CA2F9}"/>
              </a:ext>
            </a:extLst>
          </p:cNvPr>
          <p:cNvSpPr>
            <a:spLocks xmlns:a="http://schemas.openxmlformats.org/drawingml/2006/main" noGrp="1"/>
          </p:cNvSpPr>
          <p:nvPr/>
        </p:nvSpPr>
        <p:spPr>
          <a:xfrm xmlns:a="http://schemas.openxmlformats.org/drawingml/2006/main">
            <a:off x="7429500" y="3857625"/>
            <a:ext cx="1524000" cy="552450"/>
          </a:xfrm>
          <a:prstGeom xmlns:a="http://schemas.openxmlformats.org/drawingml/2006/main" prst="roundRect">
            <a:avLst>
              <a:gd name="adj" fmla="val 27586"/>
            </a:avLst>
          </a:prstGeom>
          <a:solidFill xmlns:a="http://schemas.openxmlformats.org/drawingml/2006/main">
            <a:srgbClr val="FFFFFF"/>
          </a:solidFill>
          <a:ln xmlns:a="http://schemas.openxmlformats.org/drawingml/2006/main" w="9525">
            <a:solidFill>
              <a:srgbClr val="3158D4"/>
            </a:solidFill>
            <a:prstDash val="solid"/>
          </a:ln>
        </p:spPr>
      </p:sp>
      <p:sp>
        <p:nvSpPr>
          <p:cNvPr id="14" name="">
            <a:extLst xmlns:a="http://schemas.openxmlformats.org/drawingml/2006/main">
              <a:ext uri="{FF2B5EF4-FFF2-40B4-BE49-F238E27FC236}">
                <a16:creationId xmlns:a16="http://schemas.microsoft.com/office/drawing/2014/main" id="{17D817E1-79D7-46DB-87D1-0CF37F64EE93}"/>
              </a:ext>
            </a:extLst>
          </p:cNvPr>
          <p:cNvSpPr>
            <a:spLocks xmlns:a="http://schemas.openxmlformats.org/drawingml/2006/main" noGrp="1"/>
          </p:cNvSpPr>
          <p:nvPr/>
        </p:nvSpPr>
        <p:spPr>
          <a:xfrm xmlns:a="http://schemas.openxmlformats.org/drawingml/2006/main">
            <a:off x="7543800" y="4029075"/>
            <a:ext cx="129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3158D4"/>
                </a:solidFill>
              </a:defRPr>
            </a:pPr>
            <a:r>
              <a:rPr sz="1350" b="1">
                <a:solidFill>
                  <a:srgbClr val="3158D4"/>
                </a:solidFill>
              </a:rPr>
              <a:t>AI</a:t>
            </a:r>
          </a:p>
        </p:txBody>
      </p:sp>
      <p:sp>
        <p:nvSpPr>
          <p:cNvPr id="15" name="">
            <a:extLst xmlns:a="http://schemas.openxmlformats.org/drawingml/2006/main">
              <a:ext uri="{FF2B5EF4-FFF2-40B4-BE49-F238E27FC236}">
                <a16:creationId xmlns:a16="http://schemas.microsoft.com/office/drawing/2014/main" id="{BEEA539E-836B-4F2F-946D-70F430A1E8BB}"/>
              </a:ext>
            </a:extLst>
          </p:cNvPr>
          <p:cNvSpPr>
            <a:spLocks xmlns:a="http://schemas.openxmlformats.org/drawingml/2006/main" noGrp="1"/>
          </p:cNvSpPr>
          <p:nvPr/>
        </p:nvSpPr>
        <p:spPr>
          <a:xfrm xmlns:a="http://schemas.openxmlformats.org/drawingml/2006/main">
            <a:off x="9525000" y="3857625"/>
            <a:ext cx="1524000" cy="552450"/>
          </a:xfrm>
          <a:prstGeom xmlns:a="http://schemas.openxmlformats.org/drawingml/2006/main" prst="roundRect">
            <a:avLst>
              <a:gd name="adj" fmla="val 27586"/>
            </a:avLst>
          </a:prstGeom>
          <a:solidFill xmlns:a="http://schemas.openxmlformats.org/drawingml/2006/main">
            <a:srgbClr val="FFFFFF"/>
          </a:solidFill>
          <a:ln xmlns:a="http://schemas.openxmlformats.org/drawingml/2006/main" w="9525">
            <a:solidFill>
              <a:srgbClr val="45556C"/>
            </a:solidFill>
            <a:prstDash val="solid"/>
          </a:ln>
        </p:spPr>
      </p:sp>
      <p:sp>
        <p:nvSpPr>
          <p:cNvPr id="16" name="">
            <a:extLst xmlns:a="http://schemas.openxmlformats.org/drawingml/2006/main">
              <a:ext uri="{FF2B5EF4-FFF2-40B4-BE49-F238E27FC236}">
                <a16:creationId xmlns:a16="http://schemas.microsoft.com/office/drawing/2014/main" id="{59DF8BFC-6AC8-4F5B-A314-B98D5EF74E90}"/>
              </a:ext>
            </a:extLst>
          </p:cNvPr>
          <p:cNvSpPr>
            <a:spLocks xmlns:a="http://schemas.openxmlformats.org/drawingml/2006/main" noGrp="1"/>
          </p:cNvSpPr>
          <p:nvPr/>
        </p:nvSpPr>
        <p:spPr>
          <a:xfrm xmlns:a="http://schemas.openxmlformats.org/drawingml/2006/main">
            <a:off x="9639300" y="4029075"/>
            <a:ext cx="129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45556C"/>
                </a:solidFill>
              </a:defRPr>
            </a:pPr>
            <a:r>
              <a:rPr sz="1350" b="1">
                <a:solidFill>
                  <a:srgbClr val="45556C"/>
                </a:solidFill>
              </a:rPr>
              <a:t>API 모달</a:t>
            </a:r>
          </a:p>
        </p:txBody>
      </p:sp>
      <p:sp>
        <p:nvSpPr>
          <p:cNvPr id="17" name="">
            <a:extLst xmlns:a="http://schemas.openxmlformats.org/drawingml/2006/main">
              <a:ext uri="{FF2B5EF4-FFF2-40B4-BE49-F238E27FC236}">
                <a16:creationId xmlns:a16="http://schemas.microsoft.com/office/drawing/2014/main" id="{55637206-111B-497B-AAE8-DF45EDDC4104}"/>
              </a:ext>
            </a:extLst>
          </p:cNvPr>
          <p:cNvSpPr>
            <a:spLocks xmlns:a="http://schemas.openxmlformats.org/drawingml/2006/main" noGrp="1"/>
          </p:cNvSpPr>
          <p:nvPr/>
        </p:nvSpPr>
        <p:spPr>
          <a:xfrm xmlns:a="http://schemas.openxmlformats.org/drawingml/2006/main">
            <a:off x="5524500" y="2724150"/>
            <a:ext cx="-3619500" cy="114300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F29C45B8-5B8C-49FA-8980-4D91BE427E84}"/>
              </a:ext>
            </a:extLst>
          </p:cNvPr>
          <p:cNvSpPr>
            <a:spLocks xmlns:a="http://schemas.openxmlformats.org/drawingml/2006/main" noGrp="1"/>
          </p:cNvSpPr>
          <p:nvPr/>
        </p:nvSpPr>
        <p:spPr>
          <a:xfrm xmlns:a="http://schemas.openxmlformats.org/drawingml/2006/main">
            <a:off x="5524500" y="2724150"/>
            <a:ext cx="-1524000" cy="114300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9" name="">
            <a:extLst xmlns:a="http://schemas.openxmlformats.org/drawingml/2006/main">
              <a:ext uri="{FF2B5EF4-FFF2-40B4-BE49-F238E27FC236}">
                <a16:creationId xmlns:a16="http://schemas.microsoft.com/office/drawing/2014/main" id="{EC58B1E8-F958-4735-8A82-FB7320DC37A6}"/>
              </a:ext>
            </a:extLst>
          </p:cNvPr>
          <p:cNvSpPr>
            <a:spLocks xmlns:a="http://schemas.openxmlformats.org/drawingml/2006/main" noGrp="1"/>
          </p:cNvSpPr>
          <p:nvPr/>
        </p:nvSpPr>
        <p:spPr>
          <a:xfrm xmlns:a="http://schemas.openxmlformats.org/drawingml/2006/main">
            <a:off x="5524500" y="2724150"/>
            <a:ext cx="571500" cy="114300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20" name="">
            <a:extLst xmlns:a="http://schemas.openxmlformats.org/drawingml/2006/main">
              <a:ext uri="{FF2B5EF4-FFF2-40B4-BE49-F238E27FC236}">
                <a16:creationId xmlns:a16="http://schemas.microsoft.com/office/drawing/2014/main" id="{89FA0217-68CD-4AE7-9F38-40B74EC315D6}"/>
              </a:ext>
            </a:extLst>
          </p:cNvPr>
          <p:cNvSpPr>
            <a:spLocks xmlns:a="http://schemas.openxmlformats.org/drawingml/2006/main" noGrp="1"/>
          </p:cNvSpPr>
          <p:nvPr/>
        </p:nvSpPr>
        <p:spPr>
          <a:xfrm xmlns:a="http://schemas.openxmlformats.org/drawingml/2006/main">
            <a:off x="5524500" y="2724150"/>
            <a:ext cx="2667000" cy="114300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21" name="">
            <a:extLst xmlns:a="http://schemas.openxmlformats.org/drawingml/2006/main">
              <a:ext uri="{FF2B5EF4-FFF2-40B4-BE49-F238E27FC236}">
                <a16:creationId xmlns:a16="http://schemas.microsoft.com/office/drawing/2014/main" id="{D04A230D-1135-4AB6-BD05-464140158D4F}"/>
              </a:ext>
            </a:extLst>
          </p:cNvPr>
          <p:cNvSpPr>
            <a:spLocks xmlns:a="http://schemas.openxmlformats.org/drawingml/2006/main" noGrp="1"/>
          </p:cNvSpPr>
          <p:nvPr/>
        </p:nvSpPr>
        <p:spPr>
          <a:xfrm xmlns:a="http://schemas.openxmlformats.org/drawingml/2006/main">
            <a:off x="5524500" y="2724150"/>
            <a:ext cx="4762500" cy="114300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092A68C0-3C55-4435-969C-EB1857515E6E}"/>
              </a:ext>
            </a:extLst>
          </p:cNvPr>
          <p:cNvSpPr>
            <a:spLocks xmlns:a="http://schemas.openxmlformats.org/drawingml/2006/main" noGrp="1"/>
          </p:cNvSpPr>
          <p:nvPr/>
        </p:nvSpPr>
        <p:spPr>
          <a:xfrm xmlns:a="http://schemas.openxmlformats.org/drawingml/2006/main">
            <a:off x="1352550" y="5191125"/>
            <a:ext cx="933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0">
                <a:solidFill>
                  <a:srgbClr val="45556C"/>
                </a:solidFill>
              </a:defRPr>
            </a:pPr>
            <a:r>
              <a:rPr sz="1425" b="0">
                <a:solidFill>
                  <a:srgbClr val="45556C"/>
                </a:solidFill>
              </a:rPr>
              <a:t>상단 NAV: TODO · 습관 · 일기 · AI</a:t>
            </a:r>
          </a:p>
          <a:p xmlns:a="http://schemas.openxmlformats.org/drawingml/2006/main">
            <a:pPr algn="ctr">
              <a:defRPr sz="1425" b="0">
                <a:solidFill>
                  <a:srgbClr val="45556C"/>
                </a:solidFill>
              </a:defRPr>
            </a:pPr>
            <a:r>
              <a:rPr sz="1425" b="0">
                <a:solidFill>
                  <a:srgbClr val="45556C"/>
                </a:solidFill>
              </a:rPr>
              <a:t>메인 캘린더: 날짜 선택 시 한줄일기와 TODO/일정 표시</a:t>
            </a:r>
          </a:p>
          <a:p xmlns:a="http://schemas.openxmlformats.org/drawingml/2006/main">
            <a:pPr algn="ctr">
              <a:defRPr sz="1425" b="0">
                <a:solidFill>
                  <a:srgbClr val="45556C"/>
                </a:solidFill>
              </a:defRPr>
            </a:pPr>
            <a:r>
              <a:rPr sz="1425" b="0">
                <a:solidFill>
                  <a:srgbClr val="45556C"/>
                </a:solidFill>
              </a:rPr>
              <a:t>모달: 일정 추가, 일기 추가, API 키 입력</a:t>
            </a:r>
          </a:p>
        </p:txBody>
      </p:sp>
      <p:sp>
        <p:nvSpPr>
          <p:cNvPr id="23" name="">
            <a:extLst xmlns:a="http://schemas.openxmlformats.org/drawingml/2006/main">
              <a:ext uri="{FF2B5EF4-FFF2-40B4-BE49-F238E27FC236}">
                <a16:creationId xmlns:a16="http://schemas.microsoft.com/office/drawing/2014/main" id="{F1051480-5CFA-4549-97DE-1C6F84D41A5C}"/>
              </a:ext>
            </a:extLst>
          </p:cNvPr>
          <p:cNvSpPr>
            <a:spLocks xmlns:a="http://schemas.openxmlformats.org/drawingml/2006/main" noGrp="1"/>
          </p:cNvSpPr>
          <p:nvPr/>
        </p:nvSpPr>
        <p:spPr>
          <a:xfrm xmlns:a="http://schemas.openxmlformats.org/drawingml/2006/main">
            <a:off x="8858250" y="6496050"/>
            <a:ext cx="2647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90A1B9"/>
                </a:solidFill>
              </a:defRPr>
            </a:pPr>
            <a:r>
              <a:rPr sz="900" b="0">
                <a:solidFill>
                  <a:srgbClr val="90A1B9"/>
                </a:solidFill>
              </a:rPr>
              <a:t>웹디자인 프로젝트 보고서 | 07</a:t>
            </a:r>
          </a:p>
        </p:txBody>
      </p:sp>
    </p:spTree>
    <p:extLst>
      <p:ext uri="{BB962C8B-B14F-4D97-AF65-F5344CB8AC3E}">
        <p14:creationId xmlns:p14="http://schemas.microsoft.com/office/powerpoint/2010/main" val="836514621"/>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594914C-1520-4596-BE5B-688670A46C9B}"/>
              </a:ext>
            </a:extLst>
          </p:cNvPr>
          <p:cNvSpPr>
            <a:spLocks xmlns:a="http://schemas.openxmlformats.org/drawingml/2006/main" noGrp="1"/>
          </p:cNvSpPr>
          <p:nvPr/>
        </p:nvSpPr>
        <p:spPr>
          <a:xfrm xmlns:a="http://schemas.openxmlformats.org/drawingml/2006/main">
            <a:off x="685800" y="4191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3158D4"/>
                </a:solidFill>
              </a:defRPr>
            </a:pPr>
            <a:r>
              <a:rPr sz="1200" b="1">
                <a:solidFill>
                  <a:srgbClr val="3158D4"/>
                </a:solidFill>
              </a:rPr>
              <a:t>LIFE CYCLE</a:t>
            </a:r>
          </a:p>
        </p:txBody>
      </p:sp>
      <p:sp>
        <p:nvSpPr>
          <p:cNvPr id="2" name="">
            <a:extLst xmlns:a="http://schemas.openxmlformats.org/drawingml/2006/main">
              <a:ext uri="{FF2B5EF4-FFF2-40B4-BE49-F238E27FC236}">
                <a16:creationId xmlns:a16="http://schemas.microsoft.com/office/drawing/2014/main" id="{0C79486C-4757-4D6A-8CE0-47CA28E94DBD}"/>
              </a:ext>
            </a:extLst>
          </p:cNvPr>
          <p:cNvSpPr>
            <a:spLocks xmlns:a="http://schemas.openxmlformats.org/drawingml/2006/main" noGrp="1"/>
          </p:cNvSpPr>
          <p:nvPr/>
        </p:nvSpPr>
        <p:spPr>
          <a:xfrm xmlns:a="http://schemas.openxmlformats.org/drawingml/2006/main">
            <a:off x="685800" y="838200"/>
            <a:ext cx="876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20618"/>
                </a:solidFill>
              </a:defRPr>
            </a:pPr>
            <a:r>
              <a:rPr sz="2850" b="1">
                <a:solidFill>
                  <a:srgbClr val="020618"/>
                </a:solidFill>
              </a:rPr>
              <a:t>화면설계서 1</a:t>
            </a:r>
          </a:p>
        </p:txBody>
      </p:sp>
      <p:sp>
        <p:nvSpPr>
          <p:cNvPr id="3" name="">
            <a:extLst xmlns:a="http://schemas.openxmlformats.org/drawingml/2006/main">
              <a:ext uri="{FF2B5EF4-FFF2-40B4-BE49-F238E27FC236}">
                <a16:creationId xmlns:a16="http://schemas.microsoft.com/office/drawing/2014/main" id="{3AEA0384-DB84-4F74-AF97-8FC74F5D7C0A}"/>
              </a:ext>
            </a:extLst>
          </p:cNvPr>
          <p:cNvSpPr>
            <a:spLocks xmlns:a="http://schemas.openxmlformats.org/drawingml/2006/main" noGrp="1"/>
          </p:cNvSpPr>
          <p:nvPr/>
        </p:nvSpPr>
        <p:spPr>
          <a:xfrm xmlns:a="http://schemas.openxmlformats.org/drawingml/2006/main">
            <a:off x="704850" y="1409700"/>
            <a:ext cx="876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5556C"/>
                </a:solidFill>
              </a:defRPr>
            </a:pPr>
            <a:r>
              <a:rPr sz="1350" b="0">
                <a:solidFill>
                  <a:srgbClr val="45556C"/>
                </a:solidFill>
              </a:rPr>
              <a:t>메인 대시보드</a:t>
            </a:r>
          </a:p>
        </p:txBody>
      </p:sp>
      <p:sp>
        <p:nvSpPr>
          <p:cNvPr id="4" name="">
            <a:extLst xmlns:a="http://schemas.openxmlformats.org/drawingml/2006/main">
              <a:ext uri="{FF2B5EF4-FFF2-40B4-BE49-F238E27FC236}">
                <a16:creationId xmlns:a16="http://schemas.microsoft.com/office/drawing/2014/main" id="{F67CDFDE-8F0E-4163-924C-E86A474885C8}"/>
              </a:ext>
            </a:extLst>
          </p:cNvPr>
          <p:cNvSpPr>
            <a:spLocks xmlns:a="http://schemas.openxmlformats.org/drawingml/2006/main" noGrp="1"/>
          </p:cNvSpPr>
          <p:nvPr/>
        </p:nvSpPr>
        <p:spPr>
          <a:xfrm xmlns:a="http://schemas.openxmlformats.org/drawingml/2006/main">
            <a:off x="685800" y="1866900"/>
            <a:ext cx="1082040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5" name="">
            <a:extLst xmlns:a="http://schemas.openxmlformats.org/drawingml/2006/main">
              <a:ext uri="{FF2B5EF4-FFF2-40B4-BE49-F238E27FC236}">
                <a16:creationId xmlns:a16="http://schemas.microsoft.com/office/drawing/2014/main" id="{C19552E6-1797-4C91-9D1B-C5E737D90022}"/>
              </a:ext>
            </a:extLst>
          </p:cNvPr>
          <p:cNvSpPr>
            <a:spLocks xmlns:a="http://schemas.openxmlformats.org/drawingml/2006/main" noGrp="1"/>
          </p:cNvSpPr>
          <p:nvPr/>
        </p:nvSpPr>
        <p:spPr>
          <a:xfrm xmlns:a="http://schemas.openxmlformats.org/drawingml/2006/main">
            <a:off x="685800" y="2247900"/>
            <a:ext cx="4476750" cy="314325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DFCFB80A-D22F-46CB-85E9-D203CDCA0460}"/>
              </a:ext>
            </a:extLst>
          </p:cNvPr>
          <p:cNvSpPr>
            <a:spLocks xmlns:a="http://schemas.openxmlformats.org/drawingml/2006/main" noGrp="1"/>
          </p:cNvSpPr>
          <p:nvPr/>
        </p:nvSpPr>
        <p:spPr>
          <a:xfrm xmlns:a="http://schemas.openxmlformats.org/drawingml/2006/main">
            <a:off x="5619750" y="2247900"/>
            <a:ext cx="5886450" cy="314325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264BBFA8-88FA-436E-828B-2C103BBA83DD}"/>
              </a:ext>
            </a:extLst>
          </p:cNvPr>
          <p:cNvSpPr>
            <a:spLocks xmlns:a="http://schemas.openxmlformats.org/drawingml/2006/main" noGrp="1"/>
          </p:cNvSpPr>
          <p:nvPr/>
        </p:nvSpPr>
        <p:spPr>
          <a:xfrm xmlns:a="http://schemas.openxmlformats.org/drawingml/2006/main">
            <a:off x="990600" y="25717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3158D4"/>
                </a:solidFill>
              </a:defRPr>
            </a:pPr>
            <a:r>
              <a:rPr sz="1800" b="1">
                <a:solidFill>
                  <a:srgbClr val="3158D4"/>
                </a:solidFill>
              </a:rPr>
              <a:t>레이아웃</a:t>
            </a:r>
          </a:p>
        </p:txBody>
      </p:sp>
      <p:sp>
        <p:nvSpPr>
          <p:cNvPr id="8" name="">
            <a:extLst xmlns:a="http://schemas.openxmlformats.org/drawingml/2006/main">
              <a:ext uri="{FF2B5EF4-FFF2-40B4-BE49-F238E27FC236}">
                <a16:creationId xmlns:a16="http://schemas.microsoft.com/office/drawing/2014/main" id="{46F90001-B5BB-4DF9-BE4F-BB33ED5302C2}"/>
              </a:ext>
            </a:extLst>
          </p:cNvPr>
          <p:cNvSpPr>
            <a:spLocks xmlns:a="http://schemas.openxmlformats.org/drawingml/2006/main" noGrp="1"/>
          </p:cNvSpPr>
          <p:nvPr/>
        </p:nvSpPr>
        <p:spPr>
          <a:xfrm xmlns:a="http://schemas.openxmlformats.org/drawingml/2006/main">
            <a:off x="990600" y="3048000"/>
            <a:ext cx="3619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020618"/>
                </a:solidFill>
              </a:defRPr>
            </a:pPr>
            <a:r>
              <a:rPr sz="1500" b="0">
                <a:solidFill>
                  <a:srgbClr val="020618"/>
                </a:solidFill>
              </a:rPr>
              <a:t>• 좌측: SCHEDULE TODO, 오늘의 습관</a:t>
            </a:r>
          </a:p>
          <a:p xmlns:a="http://schemas.openxmlformats.org/drawingml/2006/main">
            <a:pPr algn="l">
              <a:defRPr sz="1500" b="0">
                <a:solidFill>
                  <a:srgbClr val="020618"/>
                </a:solidFill>
              </a:defRPr>
            </a:pPr>
            <a:r>
              <a:rPr sz="1500" b="0">
                <a:solidFill>
                  <a:srgbClr val="020618"/>
                </a:solidFill>
              </a:rPr>
              <a:t>• 중앙: 월간 캘린더와 선택 날짜 상세</a:t>
            </a:r>
          </a:p>
          <a:p xmlns:a="http://schemas.openxmlformats.org/drawingml/2006/main">
            <a:pPr algn="l">
              <a:defRPr sz="1500" b="0">
                <a:solidFill>
                  <a:srgbClr val="020618"/>
                </a:solidFill>
              </a:defRPr>
            </a:pPr>
            <a:r>
              <a:rPr sz="1500" b="0">
                <a:solidFill>
                  <a:srgbClr val="020618"/>
                </a:solidFill>
              </a:rPr>
              <a:t>• 우측: AI 브리핑 요약과 생성 버튼</a:t>
            </a:r>
          </a:p>
        </p:txBody>
      </p:sp>
      <p:sp>
        <p:nvSpPr>
          <p:cNvPr id="9" name="">
            <a:extLst xmlns:a="http://schemas.openxmlformats.org/drawingml/2006/main">
              <a:ext uri="{FF2B5EF4-FFF2-40B4-BE49-F238E27FC236}">
                <a16:creationId xmlns:a16="http://schemas.microsoft.com/office/drawing/2014/main" id="{53C4749E-E378-44CB-9D7D-6CB99A026560}"/>
              </a:ext>
            </a:extLst>
          </p:cNvPr>
          <p:cNvSpPr>
            <a:spLocks xmlns:a="http://schemas.openxmlformats.org/drawingml/2006/main" noGrp="1"/>
          </p:cNvSpPr>
          <p:nvPr/>
        </p:nvSpPr>
        <p:spPr>
          <a:xfrm xmlns:a="http://schemas.openxmlformats.org/drawingml/2006/main">
            <a:off x="5924550" y="25717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3158D4"/>
                </a:solidFill>
              </a:defRPr>
            </a:pPr>
            <a:r>
              <a:rPr sz="1800" b="1">
                <a:solidFill>
                  <a:srgbClr val="3158D4"/>
                </a:solidFill>
              </a:rPr>
              <a:t>상호작용</a:t>
            </a:r>
          </a:p>
        </p:txBody>
      </p:sp>
      <p:sp>
        <p:nvSpPr>
          <p:cNvPr id="10" name="">
            <a:extLst xmlns:a="http://schemas.openxmlformats.org/drawingml/2006/main">
              <a:ext uri="{FF2B5EF4-FFF2-40B4-BE49-F238E27FC236}">
                <a16:creationId xmlns:a16="http://schemas.microsoft.com/office/drawing/2014/main" id="{1A04FCB6-C78C-4330-826C-E2D557A58258}"/>
              </a:ext>
            </a:extLst>
          </p:cNvPr>
          <p:cNvSpPr>
            <a:spLocks xmlns:a="http://schemas.openxmlformats.org/drawingml/2006/main" noGrp="1"/>
          </p:cNvSpPr>
          <p:nvPr/>
        </p:nvSpPr>
        <p:spPr>
          <a:xfrm xmlns:a="http://schemas.openxmlformats.org/drawingml/2006/main">
            <a:off x="5924550" y="3048000"/>
            <a:ext cx="47625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020618"/>
                </a:solidFill>
              </a:defRPr>
            </a:pPr>
            <a:r>
              <a:rPr sz="1425" b="0">
                <a:solidFill>
                  <a:srgbClr val="020618"/>
                </a:solidFill>
              </a:rPr>
              <a:t>• 날짜 클릭 시 하단 2분할 영역 애니메이션 표시</a:t>
            </a:r>
          </a:p>
          <a:p xmlns:a="http://schemas.openxmlformats.org/drawingml/2006/main">
            <a:pPr algn="l">
              <a:defRPr sz="1425" b="0">
                <a:solidFill>
                  <a:srgbClr val="020618"/>
                </a:solidFill>
              </a:defRPr>
            </a:pPr>
            <a:r>
              <a:rPr sz="1425" b="0">
                <a:solidFill>
                  <a:srgbClr val="020618"/>
                </a:solidFill>
              </a:rPr>
              <a:t>• 캘린더 점은 미완료 일정만 표시</a:t>
            </a:r>
          </a:p>
          <a:p xmlns:a="http://schemas.openxmlformats.org/drawingml/2006/main">
            <a:pPr algn="l">
              <a:defRPr sz="1425" b="0">
                <a:solidFill>
                  <a:srgbClr val="020618"/>
                </a:solidFill>
              </a:defRPr>
            </a:pPr>
            <a:r>
              <a:rPr sz="1425" b="0">
                <a:solidFill>
                  <a:srgbClr val="020618"/>
                </a:solidFill>
              </a:rPr>
              <a:t>• 하단 TODO/일정은 완료 항목도 블러 처리로 유지</a:t>
            </a:r>
          </a:p>
          <a:p xmlns:a="http://schemas.openxmlformats.org/drawingml/2006/main">
            <a:pPr algn="l">
              <a:defRPr sz="1425" b="0">
                <a:solidFill>
                  <a:srgbClr val="020618"/>
                </a:solidFill>
              </a:defRPr>
            </a:pPr>
            <a:r>
              <a:rPr sz="1425" b="0">
                <a:solidFill>
                  <a:srgbClr val="020618"/>
                </a:solidFill>
              </a:rPr>
              <a:t>• 일정 클릭 시 해당 일정 기반 AI 브리핑 생성 흐름으로 이동</a:t>
            </a:r>
          </a:p>
        </p:txBody>
      </p:sp>
      <p:sp>
        <p:nvSpPr>
          <p:cNvPr id="11" name="">
            <a:extLst xmlns:a="http://schemas.openxmlformats.org/drawingml/2006/main">
              <a:ext uri="{FF2B5EF4-FFF2-40B4-BE49-F238E27FC236}">
                <a16:creationId xmlns:a16="http://schemas.microsoft.com/office/drawing/2014/main" id="{6BDB91CC-1539-42B9-B754-76AC54B2686A}"/>
              </a:ext>
            </a:extLst>
          </p:cNvPr>
          <p:cNvSpPr>
            <a:spLocks xmlns:a="http://schemas.openxmlformats.org/drawingml/2006/main" noGrp="1"/>
          </p:cNvSpPr>
          <p:nvPr/>
        </p:nvSpPr>
        <p:spPr>
          <a:xfrm xmlns:a="http://schemas.openxmlformats.org/drawingml/2006/main">
            <a:off x="8858250" y="6496050"/>
            <a:ext cx="2647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90A1B9"/>
                </a:solidFill>
              </a:defRPr>
            </a:pPr>
            <a:r>
              <a:rPr sz="900" b="0">
                <a:solidFill>
                  <a:srgbClr val="90A1B9"/>
                </a:solidFill>
              </a:rPr>
              <a:t>웹디자인 프로젝트 보고서 | 08</a:t>
            </a:r>
          </a:p>
        </p:txBody>
      </p:sp>
    </p:spTree>
    <p:extLst>
      <p:ext uri="{BB962C8B-B14F-4D97-AF65-F5344CB8AC3E}">
        <p14:creationId xmlns:p14="http://schemas.microsoft.com/office/powerpoint/2010/main" val="1838290735"/>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0B01358-F677-4CA0-A9D5-652194C36894}"/>
              </a:ext>
            </a:extLst>
          </p:cNvPr>
          <p:cNvSpPr>
            <a:spLocks xmlns:a="http://schemas.openxmlformats.org/drawingml/2006/main" noGrp="1"/>
          </p:cNvSpPr>
          <p:nvPr/>
        </p:nvSpPr>
        <p:spPr>
          <a:xfrm xmlns:a="http://schemas.openxmlformats.org/drawingml/2006/main">
            <a:off x="685800" y="4191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3158D4"/>
                </a:solidFill>
              </a:defRPr>
            </a:pPr>
            <a:r>
              <a:rPr sz="1200" b="1">
                <a:solidFill>
                  <a:srgbClr val="3158D4"/>
                </a:solidFill>
              </a:rPr>
              <a:t>LIFE CYCLE</a:t>
            </a:r>
          </a:p>
        </p:txBody>
      </p:sp>
      <p:sp>
        <p:nvSpPr>
          <p:cNvPr id="2" name="">
            <a:extLst xmlns:a="http://schemas.openxmlformats.org/drawingml/2006/main">
              <a:ext uri="{FF2B5EF4-FFF2-40B4-BE49-F238E27FC236}">
                <a16:creationId xmlns:a16="http://schemas.microsoft.com/office/drawing/2014/main" id="{3F322E50-47C7-4A8A-9D82-744751F3130B}"/>
              </a:ext>
            </a:extLst>
          </p:cNvPr>
          <p:cNvSpPr>
            <a:spLocks xmlns:a="http://schemas.openxmlformats.org/drawingml/2006/main" noGrp="1"/>
          </p:cNvSpPr>
          <p:nvPr/>
        </p:nvSpPr>
        <p:spPr>
          <a:xfrm xmlns:a="http://schemas.openxmlformats.org/drawingml/2006/main">
            <a:off x="685800" y="838200"/>
            <a:ext cx="876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20618"/>
                </a:solidFill>
              </a:defRPr>
            </a:pPr>
            <a:r>
              <a:rPr sz="2850" b="1">
                <a:solidFill>
                  <a:srgbClr val="020618"/>
                </a:solidFill>
              </a:rPr>
              <a:t>화면설계서 2</a:t>
            </a:r>
          </a:p>
        </p:txBody>
      </p:sp>
      <p:sp>
        <p:nvSpPr>
          <p:cNvPr id="3" name="">
            <a:extLst xmlns:a="http://schemas.openxmlformats.org/drawingml/2006/main">
              <a:ext uri="{FF2B5EF4-FFF2-40B4-BE49-F238E27FC236}">
                <a16:creationId xmlns:a16="http://schemas.microsoft.com/office/drawing/2014/main" id="{866EC224-C6D8-47D3-A912-E041E2265F66}"/>
              </a:ext>
            </a:extLst>
          </p:cNvPr>
          <p:cNvSpPr>
            <a:spLocks xmlns:a="http://schemas.openxmlformats.org/drawingml/2006/main" noGrp="1"/>
          </p:cNvSpPr>
          <p:nvPr/>
        </p:nvSpPr>
        <p:spPr>
          <a:xfrm xmlns:a="http://schemas.openxmlformats.org/drawingml/2006/main">
            <a:off x="704850" y="1409700"/>
            <a:ext cx="876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5556C"/>
                </a:solidFill>
              </a:defRPr>
            </a:pPr>
            <a:r>
              <a:rPr sz="1350" b="0">
                <a:solidFill>
                  <a:srgbClr val="45556C"/>
                </a:solidFill>
              </a:rPr>
              <a:t>세부 페이지 설계</a:t>
            </a:r>
          </a:p>
        </p:txBody>
      </p:sp>
      <p:sp>
        <p:nvSpPr>
          <p:cNvPr id="4" name="">
            <a:extLst xmlns:a="http://schemas.openxmlformats.org/drawingml/2006/main">
              <a:ext uri="{FF2B5EF4-FFF2-40B4-BE49-F238E27FC236}">
                <a16:creationId xmlns:a16="http://schemas.microsoft.com/office/drawing/2014/main" id="{407B9147-D16D-4459-ABC8-3FEF967349D3}"/>
              </a:ext>
            </a:extLst>
          </p:cNvPr>
          <p:cNvSpPr>
            <a:spLocks xmlns:a="http://schemas.openxmlformats.org/drawingml/2006/main" noGrp="1"/>
          </p:cNvSpPr>
          <p:nvPr/>
        </p:nvSpPr>
        <p:spPr>
          <a:xfrm xmlns:a="http://schemas.openxmlformats.org/drawingml/2006/main">
            <a:off x="685800" y="1866900"/>
            <a:ext cx="1082040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5" name="">
            <a:extLst xmlns:a="http://schemas.openxmlformats.org/drawingml/2006/main">
              <a:ext uri="{FF2B5EF4-FFF2-40B4-BE49-F238E27FC236}">
                <a16:creationId xmlns:a16="http://schemas.microsoft.com/office/drawing/2014/main" id="{5276EF01-9109-4FCF-9FA3-A7397061ADF2}"/>
              </a:ext>
            </a:extLst>
          </p:cNvPr>
          <p:cNvSpPr>
            <a:spLocks xmlns:a="http://schemas.openxmlformats.org/drawingml/2006/main" noGrp="1"/>
          </p:cNvSpPr>
          <p:nvPr/>
        </p:nvSpPr>
        <p:spPr>
          <a:xfrm xmlns:a="http://schemas.openxmlformats.org/drawingml/2006/main">
            <a:off x="800100" y="2286000"/>
            <a:ext cx="4953000" cy="1143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2051E200-FB42-4B37-822D-139EF3E9BF90}"/>
              </a:ext>
            </a:extLst>
          </p:cNvPr>
          <p:cNvSpPr>
            <a:spLocks xmlns:a="http://schemas.openxmlformats.org/drawingml/2006/main" noGrp="1"/>
          </p:cNvSpPr>
          <p:nvPr/>
        </p:nvSpPr>
        <p:spPr>
          <a:xfrm xmlns:a="http://schemas.openxmlformats.org/drawingml/2006/main">
            <a:off x="1028700" y="24955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3158D4"/>
                </a:solidFill>
              </a:defRPr>
            </a:pPr>
            <a:r>
              <a:rPr sz="1800" b="1">
                <a:solidFill>
                  <a:srgbClr val="3158D4"/>
                </a:solidFill>
              </a:rPr>
              <a:t>TODO</a:t>
            </a:r>
          </a:p>
        </p:txBody>
      </p:sp>
      <p:sp>
        <p:nvSpPr>
          <p:cNvPr id="7" name="">
            <a:extLst xmlns:a="http://schemas.openxmlformats.org/drawingml/2006/main">
              <a:ext uri="{FF2B5EF4-FFF2-40B4-BE49-F238E27FC236}">
                <a16:creationId xmlns:a16="http://schemas.microsoft.com/office/drawing/2014/main" id="{06FFFCED-DF24-436B-BFAA-FC6D77152901}"/>
              </a:ext>
            </a:extLst>
          </p:cNvPr>
          <p:cNvSpPr>
            <a:spLocks xmlns:a="http://schemas.openxmlformats.org/drawingml/2006/main" noGrp="1"/>
          </p:cNvSpPr>
          <p:nvPr/>
        </p:nvSpPr>
        <p:spPr>
          <a:xfrm xmlns:a="http://schemas.openxmlformats.org/drawingml/2006/main">
            <a:off x="1028700" y="2838450"/>
            <a:ext cx="438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45556C"/>
                </a:solidFill>
              </a:defRPr>
            </a:pPr>
            <a:r>
              <a:rPr sz="1275" b="0">
                <a:solidFill>
                  <a:srgbClr val="45556C"/>
                </a:solidFill>
              </a:rPr>
              <a:t>좌측 월별 날짜 레일 + 우측 일정관리 목록</a:t>
            </a:r>
          </a:p>
          <a:p xmlns:a="http://schemas.openxmlformats.org/drawingml/2006/main">
            <a:pPr algn="l">
              <a:defRPr sz="1275" b="0">
                <a:solidFill>
                  <a:srgbClr val="45556C"/>
                </a:solidFill>
              </a:defRPr>
            </a:pPr>
            <a:r>
              <a:rPr sz="1275" b="0">
                <a:solidFill>
                  <a:srgbClr val="45556C"/>
                </a:solidFill>
              </a:rPr>
              <a:t>일정 추가 모달에서 제목, 폴더, 지역, 우선순위, 날짜, 시간 입력</a:t>
            </a:r>
          </a:p>
        </p:txBody>
      </p:sp>
      <p:sp>
        <p:nvSpPr>
          <p:cNvPr id="8" name="">
            <a:extLst xmlns:a="http://schemas.openxmlformats.org/drawingml/2006/main">
              <a:ext uri="{FF2B5EF4-FFF2-40B4-BE49-F238E27FC236}">
                <a16:creationId xmlns:a16="http://schemas.microsoft.com/office/drawing/2014/main" id="{1EF45335-D0BC-4F1B-90DB-5259A557BDF4}"/>
              </a:ext>
            </a:extLst>
          </p:cNvPr>
          <p:cNvSpPr>
            <a:spLocks xmlns:a="http://schemas.openxmlformats.org/drawingml/2006/main" noGrp="1"/>
          </p:cNvSpPr>
          <p:nvPr/>
        </p:nvSpPr>
        <p:spPr>
          <a:xfrm xmlns:a="http://schemas.openxmlformats.org/drawingml/2006/main">
            <a:off x="6229350" y="2286000"/>
            <a:ext cx="4953000" cy="1143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19A71705-58B4-4823-805C-C1DF15032AB5}"/>
              </a:ext>
            </a:extLst>
          </p:cNvPr>
          <p:cNvSpPr>
            <a:spLocks xmlns:a="http://schemas.openxmlformats.org/drawingml/2006/main" noGrp="1"/>
          </p:cNvSpPr>
          <p:nvPr/>
        </p:nvSpPr>
        <p:spPr>
          <a:xfrm xmlns:a="http://schemas.openxmlformats.org/drawingml/2006/main">
            <a:off x="6457950" y="24955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3158D4"/>
                </a:solidFill>
              </a:defRPr>
            </a:pPr>
            <a:r>
              <a:rPr sz="1800" b="1">
                <a:solidFill>
                  <a:srgbClr val="3158D4"/>
                </a:solidFill>
              </a:rPr>
              <a:t>습관</a:t>
            </a:r>
          </a:p>
        </p:txBody>
      </p:sp>
      <p:sp>
        <p:nvSpPr>
          <p:cNvPr id="10" name="">
            <a:extLst xmlns:a="http://schemas.openxmlformats.org/drawingml/2006/main">
              <a:ext uri="{FF2B5EF4-FFF2-40B4-BE49-F238E27FC236}">
                <a16:creationId xmlns:a16="http://schemas.microsoft.com/office/drawing/2014/main" id="{8047CE74-6067-46E5-84D2-F49697C381DD}"/>
              </a:ext>
            </a:extLst>
          </p:cNvPr>
          <p:cNvSpPr>
            <a:spLocks xmlns:a="http://schemas.openxmlformats.org/drawingml/2006/main" noGrp="1"/>
          </p:cNvSpPr>
          <p:nvPr/>
        </p:nvSpPr>
        <p:spPr>
          <a:xfrm xmlns:a="http://schemas.openxmlformats.org/drawingml/2006/main">
            <a:off x="6457950" y="2838450"/>
            <a:ext cx="438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45556C"/>
                </a:solidFill>
              </a:defRPr>
            </a:pPr>
            <a:r>
              <a:rPr sz="1275" b="0">
                <a:solidFill>
                  <a:srgbClr val="45556C"/>
                </a:solidFill>
              </a:rPr>
              <a:t>좌측 습관 랭킹 + 우측 습관 관리</a:t>
            </a:r>
          </a:p>
          <a:p xmlns:a="http://schemas.openxmlformats.org/drawingml/2006/main">
            <a:pPr algn="l">
              <a:defRPr sz="1275" b="0">
                <a:solidFill>
                  <a:srgbClr val="45556C"/>
                </a:solidFill>
              </a:defRPr>
            </a:pPr>
            <a:r>
              <a:rPr sz="1275" b="0">
                <a:solidFill>
                  <a:srgbClr val="45556C"/>
                </a:solidFill>
              </a:rPr>
              <a:t>오늘 완료, 이번 달 횟수, 월간 퍼센트 표시</a:t>
            </a:r>
          </a:p>
        </p:txBody>
      </p:sp>
      <p:sp>
        <p:nvSpPr>
          <p:cNvPr id="11" name="">
            <a:extLst xmlns:a="http://schemas.openxmlformats.org/drawingml/2006/main">
              <a:ext uri="{FF2B5EF4-FFF2-40B4-BE49-F238E27FC236}">
                <a16:creationId xmlns:a16="http://schemas.microsoft.com/office/drawing/2014/main" id="{3BD34D14-B912-4EA0-BCEC-8BC036B8E697}"/>
              </a:ext>
            </a:extLst>
          </p:cNvPr>
          <p:cNvSpPr>
            <a:spLocks xmlns:a="http://schemas.openxmlformats.org/drawingml/2006/main" noGrp="1"/>
          </p:cNvSpPr>
          <p:nvPr/>
        </p:nvSpPr>
        <p:spPr>
          <a:xfrm xmlns:a="http://schemas.openxmlformats.org/drawingml/2006/main">
            <a:off x="800100" y="3762375"/>
            <a:ext cx="4953000" cy="1143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0EF190E3-0AC3-492E-AF95-45E5FD398615}"/>
              </a:ext>
            </a:extLst>
          </p:cNvPr>
          <p:cNvSpPr>
            <a:spLocks xmlns:a="http://schemas.openxmlformats.org/drawingml/2006/main" noGrp="1"/>
          </p:cNvSpPr>
          <p:nvPr/>
        </p:nvSpPr>
        <p:spPr>
          <a:xfrm xmlns:a="http://schemas.openxmlformats.org/drawingml/2006/main">
            <a:off x="1028700" y="3971925"/>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3158D4"/>
                </a:solidFill>
              </a:defRPr>
            </a:pPr>
            <a:r>
              <a:rPr sz="1800" b="1">
                <a:solidFill>
                  <a:srgbClr val="3158D4"/>
                </a:solidFill>
              </a:rPr>
              <a:t>일기</a:t>
            </a:r>
          </a:p>
        </p:txBody>
      </p:sp>
      <p:sp>
        <p:nvSpPr>
          <p:cNvPr id="13" name="">
            <a:extLst xmlns:a="http://schemas.openxmlformats.org/drawingml/2006/main">
              <a:ext uri="{FF2B5EF4-FFF2-40B4-BE49-F238E27FC236}">
                <a16:creationId xmlns:a16="http://schemas.microsoft.com/office/drawing/2014/main" id="{AE1EFD6B-5FBE-4FB7-A528-AAA88514FC23}"/>
              </a:ext>
            </a:extLst>
          </p:cNvPr>
          <p:cNvSpPr>
            <a:spLocks xmlns:a="http://schemas.openxmlformats.org/drawingml/2006/main" noGrp="1"/>
          </p:cNvSpPr>
          <p:nvPr/>
        </p:nvSpPr>
        <p:spPr>
          <a:xfrm xmlns:a="http://schemas.openxmlformats.org/drawingml/2006/main">
            <a:off x="1028700" y="4314825"/>
            <a:ext cx="438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45556C"/>
                </a:solidFill>
              </a:defRPr>
            </a:pPr>
            <a:r>
              <a:rPr sz="1275" b="0">
                <a:solidFill>
                  <a:srgbClr val="45556C"/>
                </a:solidFill>
              </a:rPr>
              <a:t>좌측 월별 일기 날짜 + 우측 전체 일기 목록</a:t>
            </a:r>
          </a:p>
          <a:p xmlns:a="http://schemas.openxmlformats.org/drawingml/2006/main">
            <a:pPr algn="l">
              <a:defRPr sz="1275" b="0">
                <a:solidFill>
                  <a:srgbClr val="45556C"/>
                </a:solidFill>
              </a:defRPr>
            </a:pPr>
            <a:r>
              <a:rPr sz="1275" b="0">
                <a:solidFill>
                  <a:srgbClr val="45556C"/>
                </a:solidFill>
              </a:rPr>
              <a:t>일기 추가 모달에서 날짜, 이모티콘, 한 줄 일기 입력</a:t>
            </a:r>
          </a:p>
        </p:txBody>
      </p:sp>
      <p:sp>
        <p:nvSpPr>
          <p:cNvPr id="14" name="">
            <a:extLst xmlns:a="http://schemas.openxmlformats.org/drawingml/2006/main">
              <a:ext uri="{FF2B5EF4-FFF2-40B4-BE49-F238E27FC236}">
                <a16:creationId xmlns:a16="http://schemas.microsoft.com/office/drawing/2014/main" id="{E9697BC5-3466-4998-89A7-F66B577652E8}"/>
              </a:ext>
            </a:extLst>
          </p:cNvPr>
          <p:cNvSpPr>
            <a:spLocks xmlns:a="http://schemas.openxmlformats.org/drawingml/2006/main" noGrp="1"/>
          </p:cNvSpPr>
          <p:nvPr/>
        </p:nvSpPr>
        <p:spPr>
          <a:xfrm xmlns:a="http://schemas.openxmlformats.org/drawingml/2006/main">
            <a:off x="6229350" y="3762375"/>
            <a:ext cx="4953000" cy="1143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76BAE168-9B05-4292-A9B8-C90EC4DBE04F}"/>
              </a:ext>
            </a:extLst>
          </p:cNvPr>
          <p:cNvSpPr>
            <a:spLocks xmlns:a="http://schemas.openxmlformats.org/drawingml/2006/main" noGrp="1"/>
          </p:cNvSpPr>
          <p:nvPr/>
        </p:nvSpPr>
        <p:spPr>
          <a:xfrm xmlns:a="http://schemas.openxmlformats.org/drawingml/2006/main">
            <a:off x="6457950" y="3971925"/>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3158D4"/>
                </a:solidFill>
              </a:defRPr>
            </a:pPr>
            <a:r>
              <a:rPr sz="1800" b="1">
                <a:solidFill>
                  <a:srgbClr val="3158D4"/>
                </a:solidFill>
              </a:rPr>
              <a:t>AI</a:t>
            </a:r>
          </a:p>
        </p:txBody>
      </p:sp>
      <p:sp>
        <p:nvSpPr>
          <p:cNvPr id="16" name="">
            <a:extLst xmlns:a="http://schemas.openxmlformats.org/drawingml/2006/main">
              <a:ext uri="{FF2B5EF4-FFF2-40B4-BE49-F238E27FC236}">
                <a16:creationId xmlns:a16="http://schemas.microsoft.com/office/drawing/2014/main" id="{9F58E025-8DDF-41F0-9993-1354D77B38F0}"/>
              </a:ext>
            </a:extLst>
          </p:cNvPr>
          <p:cNvSpPr>
            <a:spLocks xmlns:a="http://schemas.openxmlformats.org/drawingml/2006/main" noGrp="1"/>
          </p:cNvSpPr>
          <p:nvPr/>
        </p:nvSpPr>
        <p:spPr>
          <a:xfrm xmlns:a="http://schemas.openxmlformats.org/drawingml/2006/main">
            <a:off x="6457950" y="4314825"/>
            <a:ext cx="438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45556C"/>
                </a:solidFill>
              </a:defRPr>
            </a:pPr>
            <a:r>
              <a:rPr sz="1275" b="0">
                <a:solidFill>
                  <a:srgbClr val="45556C"/>
                </a:solidFill>
              </a:rPr>
              <a:t>좌측 브리핑 대상 + 우측 브리핑 결과</a:t>
            </a:r>
          </a:p>
          <a:p xmlns:a="http://schemas.openxmlformats.org/drawingml/2006/main">
            <a:pPr algn="l">
              <a:defRPr sz="1275" b="0">
                <a:solidFill>
                  <a:srgbClr val="45556C"/>
                </a:solidFill>
              </a:defRPr>
            </a:pPr>
            <a:r>
              <a:rPr sz="1275" b="0">
                <a:solidFill>
                  <a:srgbClr val="45556C"/>
                </a:solidFill>
              </a:rPr>
              <a:t>OpenRouter 키는 매 요청 시 입력하고 저장하지 않음</a:t>
            </a:r>
          </a:p>
        </p:txBody>
      </p:sp>
      <p:sp>
        <p:nvSpPr>
          <p:cNvPr id="17" name="">
            <a:extLst xmlns:a="http://schemas.openxmlformats.org/drawingml/2006/main">
              <a:ext uri="{FF2B5EF4-FFF2-40B4-BE49-F238E27FC236}">
                <a16:creationId xmlns:a16="http://schemas.microsoft.com/office/drawing/2014/main" id="{C1F9D3FF-CB8B-49C6-9B3C-8C9AA819ECF4}"/>
              </a:ext>
            </a:extLst>
          </p:cNvPr>
          <p:cNvSpPr>
            <a:spLocks xmlns:a="http://schemas.openxmlformats.org/drawingml/2006/main" noGrp="1"/>
          </p:cNvSpPr>
          <p:nvPr/>
        </p:nvSpPr>
        <p:spPr>
          <a:xfrm xmlns:a="http://schemas.openxmlformats.org/drawingml/2006/main">
            <a:off x="8858250" y="6496050"/>
            <a:ext cx="2647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90A1B9"/>
                </a:solidFill>
              </a:defRPr>
            </a:pPr>
            <a:r>
              <a:rPr sz="900" b="0">
                <a:solidFill>
                  <a:srgbClr val="90A1B9"/>
                </a:solidFill>
              </a:rPr>
              <a:t>웹디자인 프로젝트 보고서 | 09</a:t>
            </a:r>
          </a:p>
        </p:txBody>
      </p:sp>
    </p:spTree>
    <p:extLst>
      <p:ext uri="{BB962C8B-B14F-4D97-AF65-F5344CB8AC3E}">
        <p14:creationId xmlns:p14="http://schemas.microsoft.com/office/powerpoint/2010/main" val="450266252"/>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FEC9F10-1D81-4A68-92F3-B75895232445}"/>
              </a:ext>
            </a:extLst>
          </p:cNvPr>
          <p:cNvSpPr>
            <a:spLocks xmlns:a="http://schemas.openxmlformats.org/drawingml/2006/main" noGrp="1"/>
          </p:cNvSpPr>
          <p:nvPr/>
        </p:nvSpPr>
        <p:spPr>
          <a:xfrm xmlns:a="http://schemas.openxmlformats.org/drawingml/2006/main">
            <a:off x="685800" y="4191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3158D4"/>
                </a:solidFill>
              </a:defRPr>
            </a:pPr>
            <a:r>
              <a:rPr sz="1200" b="1">
                <a:solidFill>
                  <a:srgbClr val="3158D4"/>
                </a:solidFill>
              </a:rPr>
              <a:t>LIFE CYCLE</a:t>
            </a:r>
          </a:p>
        </p:txBody>
      </p:sp>
      <p:sp>
        <p:nvSpPr>
          <p:cNvPr id="2" name="">
            <a:extLst xmlns:a="http://schemas.openxmlformats.org/drawingml/2006/main">
              <a:ext uri="{FF2B5EF4-FFF2-40B4-BE49-F238E27FC236}">
                <a16:creationId xmlns:a16="http://schemas.microsoft.com/office/drawing/2014/main" id="{7CF498A8-83B4-4133-9417-42F8BFD2F0D4}"/>
              </a:ext>
            </a:extLst>
          </p:cNvPr>
          <p:cNvSpPr>
            <a:spLocks xmlns:a="http://schemas.openxmlformats.org/drawingml/2006/main" noGrp="1"/>
          </p:cNvSpPr>
          <p:nvPr/>
        </p:nvSpPr>
        <p:spPr>
          <a:xfrm xmlns:a="http://schemas.openxmlformats.org/drawingml/2006/main">
            <a:off x="685800" y="838200"/>
            <a:ext cx="876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20618"/>
                </a:solidFill>
              </a:defRPr>
            </a:pPr>
            <a:r>
              <a:rPr sz="2850" b="1">
                <a:solidFill>
                  <a:srgbClr val="020618"/>
                </a:solidFill>
              </a:rPr>
              <a:t>구현결과 1</a:t>
            </a:r>
          </a:p>
        </p:txBody>
      </p:sp>
      <p:sp>
        <p:nvSpPr>
          <p:cNvPr id="3" name="">
            <a:extLst xmlns:a="http://schemas.openxmlformats.org/drawingml/2006/main">
              <a:ext uri="{FF2B5EF4-FFF2-40B4-BE49-F238E27FC236}">
                <a16:creationId xmlns:a16="http://schemas.microsoft.com/office/drawing/2014/main" id="{18DF8FB6-D4E8-4CDD-9D1C-DC29AAECEF49}"/>
              </a:ext>
            </a:extLst>
          </p:cNvPr>
          <p:cNvSpPr>
            <a:spLocks xmlns:a="http://schemas.openxmlformats.org/drawingml/2006/main" noGrp="1"/>
          </p:cNvSpPr>
          <p:nvPr/>
        </p:nvSpPr>
        <p:spPr>
          <a:xfrm xmlns:a="http://schemas.openxmlformats.org/drawingml/2006/main">
            <a:off x="704850" y="1409700"/>
            <a:ext cx="876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5556C"/>
                </a:solidFill>
              </a:defRPr>
            </a:pPr>
            <a:r>
              <a:rPr sz="1350" b="0">
                <a:solidFill>
                  <a:srgbClr val="45556C"/>
                </a:solidFill>
              </a:rPr>
              <a:t>메인 대시보드 화면</a:t>
            </a:r>
          </a:p>
        </p:txBody>
      </p:sp>
      <p:sp>
        <p:nvSpPr>
          <p:cNvPr id="4" name="">
            <a:extLst xmlns:a="http://schemas.openxmlformats.org/drawingml/2006/main">
              <a:ext uri="{FF2B5EF4-FFF2-40B4-BE49-F238E27FC236}">
                <a16:creationId xmlns:a16="http://schemas.microsoft.com/office/drawing/2014/main" id="{386126AF-55F2-4017-ACED-F9C40A65B233}"/>
              </a:ext>
            </a:extLst>
          </p:cNvPr>
          <p:cNvSpPr>
            <a:spLocks xmlns:a="http://schemas.openxmlformats.org/drawingml/2006/main" noGrp="1"/>
          </p:cNvSpPr>
          <p:nvPr/>
        </p:nvSpPr>
        <p:spPr>
          <a:xfrm xmlns:a="http://schemas.openxmlformats.org/drawingml/2006/main">
            <a:off x="685800" y="1866900"/>
            <a:ext cx="1082040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5" name="">
            <a:extLst xmlns:a="http://schemas.openxmlformats.org/drawingml/2006/main">
              <a:ext uri="{FF2B5EF4-FFF2-40B4-BE49-F238E27FC236}">
                <a16:creationId xmlns:a16="http://schemas.microsoft.com/office/drawing/2014/main" id="{9476CBD4-5243-4BF8-A832-BEB821C6DF14}"/>
              </a:ext>
            </a:extLst>
          </p:cNvPr>
          <p:cNvSpPr>
            <a:spLocks xmlns:a="http://schemas.openxmlformats.org/drawingml/2006/main" noGrp="1"/>
          </p:cNvSpPr>
          <p:nvPr/>
        </p:nvSpPr>
        <p:spPr>
          <a:xfrm xmlns:a="http://schemas.openxmlformats.org/drawingml/2006/main">
            <a:off x="609600" y="1971675"/>
            <a:ext cx="7391400" cy="4248150"/>
          </a:xfrm>
          <a:prstGeom xmlns:a="http://schemas.openxmlformats.org/drawingml/2006/main" prst="roundRect">
            <a:avLst>
              <a:gd name="adj" fmla="val 4036"/>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3af173e8997474e"/>
          <a:stretch xmlns:a="http://schemas.openxmlformats.org/drawingml/2006/main"/>
        </p:blipFill>
        <p:spPr>
          <a:xfrm xmlns:a="http://schemas.openxmlformats.org/drawingml/2006/main">
            <a:off x="1028700" y="2047875"/>
            <a:ext cx="6553200" cy="4095750"/>
          </a:xfrm>
          <a:prstGeom xmlns:a="http://schemas.openxmlformats.org/drawingml/2006/main" prst="roundRect">
            <a:avLst>
              <a:gd name="adj" fmla="val 2791"/>
            </a:avLst>
          </a:prstGeom>
        </p:spPr>
      </p:pic>
      <p:sp>
        <p:nvSpPr>
          <p:cNvPr id="7" name="">
            <a:extLst xmlns:a="http://schemas.openxmlformats.org/drawingml/2006/main">
              <a:ext uri="{FF2B5EF4-FFF2-40B4-BE49-F238E27FC236}">
                <a16:creationId xmlns:a16="http://schemas.microsoft.com/office/drawing/2014/main" id="{43850EC2-9F61-4DCA-9D91-AB4833B85B41}"/>
              </a:ext>
            </a:extLst>
          </p:cNvPr>
          <p:cNvSpPr>
            <a:spLocks xmlns:a="http://schemas.openxmlformats.org/drawingml/2006/main" noGrp="1"/>
          </p:cNvSpPr>
          <p:nvPr/>
        </p:nvSpPr>
        <p:spPr>
          <a:xfrm xmlns:a="http://schemas.openxmlformats.org/drawingml/2006/main">
            <a:off x="8286750" y="2190750"/>
            <a:ext cx="3219450" cy="3714750"/>
          </a:xfrm>
          <a:prstGeom xmlns:a="http://schemas.openxmlformats.org/drawingml/2006/main" prst="roundRect">
            <a:avLst>
              <a:gd name="adj" fmla="val 5325"/>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60172E7D-3271-4B67-A9F6-9F101AD8CADC}"/>
              </a:ext>
            </a:extLst>
          </p:cNvPr>
          <p:cNvSpPr>
            <a:spLocks xmlns:a="http://schemas.openxmlformats.org/drawingml/2006/main" noGrp="1"/>
          </p:cNvSpPr>
          <p:nvPr/>
        </p:nvSpPr>
        <p:spPr>
          <a:xfrm xmlns:a="http://schemas.openxmlformats.org/drawingml/2006/main">
            <a:off x="8591550" y="25146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3158D4"/>
                </a:solidFill>
              </a:defRPr>
            </a:pPr>
            <a:r>
              <a:rPr sz="1800" b="1">
                <a:solidFill>
                  <a:srgbClr val="3158D4"/>
                </a:solidFill>
              </a:rPr>
              <a:t>핵심 구현</a:t>
            </a:r>
          </a:p>
        </p:txBody>
      </p:sp>
      <p:sp>
        <p:nvSpPr>
          <p:cNvPr id="9" name="">
            <a:extLst xmlns:a="http://schemas.openxmlformats.org/drawingml/2006/main">
              <a:ext uri="{FF2B5EF4-FFF2-40B4-BE49-F238E27FC236}">
                <a16:creationId xmlns:a16="http://schemas.microsoft.com/office/drawing/2014/main" id="{71BDF9CD-CBCA-4F9C-BB8D-FAE07CFA8D33}"/>
              </a:ext>
            </a:extLst>
          </p:cNvPr>
          <p:cNvSpPr>
            <a:spLocks xmlns:a="http://schemas.openxmlformats.org/drawingml/2006/main" noGrp="1"/>
          </p:cNvSpPr>
          <p:nvPr/>
        </p:nvSpPr>
        <p:spPr>
          <a:xfrm xmlns:a="http://schemas.openxmlformats.org/drawingml/2006/main">
            <a:off x="8591550" y="2990850"/>
            <a:ext cx="25717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20618"/>
                </a:solidFill>
              </a:defRPr>
            </a:pPr>
            <a:r>
              <a:rPr sz="1350" b="0">
                <a:solidFill>
                  <a:srgbClr val="020618"/>
                </a:solidFill>
              </a:rPr>
              <a:t>• SCHEDULE에는 모든 미완료 TODO 표시</a:t>
            </a:r>
          </a:p>
          <a:p xmlns:a="http://schemas.openxmlformats.org/drawingml/2006/main">
            <a:pPr algn="l">
              <a:defRPr sz="1350" b="0">
                <a:solidFill>
                  <a:srgbClr val="020618"/>
                </a:solidFill>
              </a:defRPr>
            </a:pPr>
            <a:r>
              <a:rPr sz="1350" b="0">
                <a:solidFill>
                  <a:srgbClr val="020618"/>
                </a:solidFill>
              </a:rPr>
              <a:t>• 캘린더 점은 미완료 일정만 표시</a:t>
            </a:r>
          </a:p>
          <a:p xmlns:a="http://schemas.openxmlformats.org/drawingml/2006/main">
            <a:pPr algn="l">
              <a:defRPr sz="1350" b="0">
                <a:solidFill>
                  <a:srgbClr val="020618"/>
                </a:solidFill>
              </a:defRPr>
            </a:pPr>
            <a:r>
              <a:rPr sz="1350" b="0">
                <a:solidFill>
                  <a:srgbClr val="020618"/>
                </a:solidFill>
              </a:rPr>
              <a:t>• 날짜 선택 시 한줄일기와 TODO/일정 표시</a:t>
            </a:r>
          </a:p>
          <a:p xmlns:a="http://schemas.openxmlformats.org/drawingml/2006/main">
            <a:pPr algn="l">
              <a:defRPr sz="1350" b="0">
                <a:solidFill>
                  <a:srgbClr val="020618"/>
                </a:solidFill>
              </a:defRPr>
            </a:pPr>
            <a:r>
              <a:rPr sz="1350" b="0">
                <a:solidFill>
                  <a:srgbClr val="020618"/>
                </a:solidFill>
              </a:rPr>
              <a:t>• AI 브리핑 영역을 메인에서 바로 접근</a:t>
            </a:r>
          </a:p>
        </p:txBody>
      </p:sp>
      <p:sp>
        <p:nvSpPr>
          <p:cNvPr id="10" name="">
            <a:extLst xmlns:a="http://schemas.openxmlformats.org/drawingml/2006/main">
              <a:ext uri="{FF2B5EF4-FFF2-40B4-BE49-F238E27FC236}">
                <a16:creationId xmlns:a16="http://schemas.microsoft.com/office/drawing/2014/main" id="{22A848F6-BF65-4515-800F-715A2BA82BF1}"/>
              </a:ext>
            </a:extLst>
          </p:cNvPr>
          <p:cNvSpPr>
            <a:spLocks xmlns:a="http://schemas.openxmlformats.org/drawingml/2006/main" noGrp="1"/>
          </p:cNvSpPr>
          <p:nvPr/>
        </p:nvSpPr>
        <p:spPr>
          <a:xfrm xmlns:a="http://schemas.openxmlformats.org/drawingml/2006/main">
            <a:off x="8858250" y="6496050"/>
            <a:ext cx="2647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90A1B9"/>
                </a:solidFill>
              </a:defRPr>
            </a:pPr>
            <a:r>
              <a:rPr sz="900" b="0">
                <a:solidFill>
                  <a:srgbClr val="90A1B9"/>
                </a:solidFill>
              </a:rPr>
              <a:t>웹디자인 프로젝트 보고서 | 10</a:t>
            </a:r>
          </a:p>
        </p:txBody>
      </p:sp>
    </p:spTree>
    <p:extLst>
      <p:ext uri="{BB962C8B-B14F-4D97-AF65-F5344CB8AC3E}">
        <p14:creationId xmlns:p14="http://schemas.microsoft.com/office/powerpoint/2010/main" val="540832430"/>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32BB673-388C-407D-9D75-53D64AD5E632}"/>
              </a:ext>
            </a:extLst>
          </p:cNvPr>
          <p:cNvSpPr>
            <a:spLocks xmlns:a="http://schemas.openxmlformats.org/drawingml/2006/main" noGrp="1"/>
          </p:cNvSpPr>
          <p:nvPr/>
        </p:nvSpPr>
        <p:spPr>
          <a:xfrm xmlns:a="http://schemas.openxmlformats.org/drawingml/2006/main">
            <a:off x="685800" y="4191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3158D4"/>
                </a:solidFill>
              </a:defRPr>
            </a:pPr>
            <a:r>
              <a:rPr sz="1200" b="1">
                <a:solidFill>
                  <a:srgbClr val="3158D4"/>
                </a:solidFill>
              </a:rPr>
              <a:t>LIFE CYCLE</a:t>
            </a:r>
          </a:p>
        </p:txBody>
      </p:sp>
      <p:sp>
        <p:nvSpPr>
          <p:cNvPr id="2" name="">
            <a:extLst xmlns:a="http://schemas.openxmlformats.org/drawingml/2006/main">
              <a:ext uri="{FF2B5EF4-FFF2-40B4-BE49-F238E27FC236}">
                <a16:creationId xmlns:a16="http://schemas.microsoft.com/office/drawing/2014/main" id="{DEEC23E8-F0AA-4B28-B92A-27A2151891B3}"/>
              </a:ext>
            </a:extLst>
          </p:cNvPr>
          <p:cNvSpPr>
            <a:spLocks xmlns:a="http://schemas.openxmlformats.org/drawingml/2006/main" noGrp="1"/>
          </p:cNvSpPr>
          <p:nvPr/>
        </p:nvSpPr>
        <p:spPr>
          <a:xfrm xmlns:a="http://schemas.openxmlformats.org/drawingml/2006/main">
            <a:off x="685800" y="838200"/>
            <a:ext cx="876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20618"/>
                </a:solidFill>
              </a:defRPr>
            </a:pPr>
            <a:r>
              <a:rPr sz="2850" b="1">
                <a:solidFill>
                  <a:srgbClr val="020618"/>
                </a:solidFill>
              </a:rPr>
              <a:t>구현결과 2</a:t>
            </a:r>
          </a:p>
        </p:txBody>
      </p:sp>
      <p:sp>
        <p:nvSpPr>
          <p:cNvPr id="3" name="">
            <a:extLst xmlns:a="http://schemas.openxmlformats.org/drawingml/2006/main">
              <a:ext uri="{FF2B5EF4-FFF2-40B4-BE49-F238E27FC236}">
                <a16:creationId xmlns:a16="http://schemas.microsoft.com/office/drawing/2014/main" id="{A16FC1F9-9F75-4A9F-A0D7-95837B57A0F8}"/>
              </a:ext>
            </a:extLst>
          </p:cNvPr>
          <p:cNvSpPr>
            <a:spLocks xmlns:a="http://schemas.openxmlformats.org/drawingml/2006/main" noGrp="1"/>
          </p:cNvSpPr>
          <p:nvPr/>
        </p:nvSpPr>
        <p:spPr>
          <a:xfrm xmlns:a="http://schemas.openxmlformats.org/drawingml/2006/main">
            <a:off x="704850" y="1409700"/>
            <a:ext cx="876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5556C"/>
                </a:solidFill>
              </a:defRPr>
            </a:pPr>
            <a:r>
              <a:rPr sz="1350" b="0">
                <a:solidFill>
                  <a:srgbClr val="45556C"/>
                </a:solidFill>
              </a:rPr>
              <a:t>TODO 일정관리 화면</a:t>
            </a:r>
          </a:p>
        </p:txBody>
      </p:sp>
      <p:sp>
        <p:nvSpPr>
          <p:cNvPr id="4" name="">
            <a:extLst xmlns:a="http://schemas.openxmlformats.org/drawingml/2006/main">
              <a:ext uri="{FF2B5EF4-FFF2-40B4-BE49-F238E27FC236}">
                <a16:creationId xmlns:a16="http://schemas.microsoft.com/office/drawing/2014/main" id="{BCB5D0E2-450B-470F-BB51-3B5A10C46C77}"/>
              </a:ext>
            </a:extLst>
          </p:cNvPr>
          <p:cNvSpPr>
            <a:spLocks xmlns:a="http://schemas.openxmlformats.org/drawingml/2006/main" noGrp="1"/>
          </p:cNvSpPr>
          <p:nvPr/>
        </p:nvSpPr>
        <p:spPr>
          <a:xfrm xmlns:a="http://schemas.openxmlformats.org/drawingml/2006/main">
            <a:off x="685800" y="1866900"/>
            <a:ext cx="1082040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5" name="">
            <a:extLst xmlns:a="http://schemas.openxmlformats.org/drawingml/2006/main">
              <a:ext uri="{FF2B5EF4-FFF2-40B4-BE49-F238E27FC236}">
                <a16:creationId xmlns:a16="http://schemas.microsoft.com/office/drawing/2014/main" id="{C3695300-F9E5-4D0A-872E-01E90BEF682E}"/>
              </a:ext>
            </a:extLst>
          </p:cNvPr>
          <p:cNvSpPr>
            <a:spLocks xmlns:a="http://schemas.openxmlformats.org/drawingml/2006/main" noGrp="1"/>
          </p:cNvSpPr>
          <p:nvPr/>
        </p:nvSpPr>
        <p:spPr>
          <a:xfrm xmlns:a="http://schemas.openxmlformats.org/drawingml/2006/main">
            <a:off x="609600" y="1971675"/>
            <a:ext cx="7391400" cy="4248150"/>
          </a:xfrm>
          <a:prstGeom xmlns:a="http://schemas.openxmlformats.org/drawingml/2006/main" prst="roundRect">
            <a:avLst>
              <a:gd name="adj" fmla="val 4036"/>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a50213f42824934"/>
          <a:stretch xmlns:a="http://schemas.openxmlformats.org/drawingml/2006/main"/>
        </p:blipFill>
        <p:spPr>
          <a:xfrm xmlns:a="http://schemas.openxmlformats.org/drawingml/2006/main">
            <a:off x="1028700" y="2047875"/>
            <a:ext cx="6553200" cy="4095750"/>
          </a:xfrm>
          <a:prstGeom xmlns:a="http://schemas.openxmlformats.org/drawingml/2006/main" prst="roundRect">
            <a:avLst>
              <a:gd name="adj" fmla="val 2791"/>
            </a:avLst>
          </a:prstGeom>
        </p:spPr>
      </p:pic>
      <p:sp>
        <p:nvSpPr>
          <p:cNvPr id="7" name="">
            <a:extLst xmlns:a="http://schemas.openxmlformats.org/drawingml/2006/main">
              <a:ext uri="{FF2B5EF4-FFF2-40B4-BE49-F238E27FC236}">
                <a16:creationId xmlns:a16="http://schemas.microsoft.com/office/drawing/2014/main" id="{C2DED988-3374-4EC7-B7B9-B60AF910132A}"/>
              </a:ext>
            </a:extLst>
          </p:cNvPr>
          <p:cNvSpPr>
            <a:spLocks xmlns:a="http://schemas.openxmlformats.org/drawingml/2006/main" noGrp="1"/>
          </p:cNvSpPr>
          <p:nvPr/>
        </p:nvSpPr>
        <p:spPr>
          <a:xfrm xmlns:a="http://schemas.openxmlformats.org/drawingml/2006/main">
            <a:off x="8286750" y="2190750"/>
            <a:ext cx="3219450" cy="3714750"/>
          </a:xfrm>
          <a:prstGeom xmlns:a="http://schemas.openxmlformats.org/drawingml/2006/main" prst="roundRect">
            <a:avLst>
              <a:gd name="adj" fmla="val 5325"/>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62BF9D17-2573-42F8-A2B2-55AF5652EA10}"/>
              </a:ext>
            </a:extLst>
          </p:cNvPr>
          <p:cNvSpPr>
            <a:spLocks xmlns:a="http://schemas.openxmlformats.org/drawingml/2006/main" noGrp="1"/>
          </p:cNvSpPr>
          <p:nvPr/>
        </p:nvSpPr>
        <p:spPr>
          <a:xfrm xmlns:a="http://schemas.openxmlformats.org/drawingml/2006/main">
            <a:off x="8591550" y="25146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3158D4"/>
                </a:solidFill>
              </a:defRPr>
            </a:pPr>
            <a:r>
              <a:rPr sz="1800" b="1">
                <a:solidFill>
                  <a:srgbClr val="3158D4"/>
                </a:solidFill>
              </a:rPr>
              <a:t>주요 기능</a:t>
            </a:r>
          </a:p>
        </p:txBody>
      </p:sp>
      <p:sp>
        <p:nvSpPr>
          <p:cNvPr id="9" name="">
            <a:extLst xmlns:a="http://schemas.openxmlformats.org/drawingml/2006/main">
              <a:ext uri="{FF2B5EF4-FFF2-40B4-BE49-F238E27FC236}">
                <a16:creationId xmlns:a16="http://schemas.microsoft.com/office/drawing/2014/main" id="{C464E5D3-CD77-4F73-A36E-AE7EBED546FF}"/>
              </a:ext>
            </a:extLst>
          </p:cNvPr>
          <p:cNvSpPr>
            <a:spLocks xmlns:a="http://schemas.openxmlformats.org/drawingml/2006/main" noGrp="1"/>
          </p:cNvSpPr>
          <p:nvPr/>
        </p:nvSpPr>
        <p:spPr>
          <a:xfrm xmlns:a="http://schemas.openxmlformats.org/drawingml/2006/main">
            <a:off x="8591550" y="2990850"/>
            <a:ext cx="25717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20618"/>
                </a:solidFill>
              </a:defRPr>
            </a:pPr>
            <a:r>
              <a:rPr sz="1350" b="0">
                <a:solidFill>
                  <a:srgbClr val="020618"/>
                </a:solidFill>
              </a:rPr>
              <a:t>• 월 단위 날짜 레일과 미완료 점 표시</a:t>
            </a:r>
          </a:p>
          <a:p xmlns:a="http://schemas.openxmlformats.org/drawingml/2006/main">
            <a:pPr algn="l">
              <a:defRPr sz="1350" b="0">
                <a:solidFill>
                  <a:srgbClr val="020618"/>
                </a:solidFill>
              </a:defRPr>
            </a:pPr>
            <a:r>
              <a:rPr sz="1350" b="0">
                <a:solidFill>
                  <a:srgbClr val="020618"/>
                </a:solidFill>
              </a:rPr>
              <a:t>• 일정 추가 모달 제공</a:t>
            </a:r>
          </a:p>
          <a:p xmlns:a="http://schemas.openxmlformats.org/drawingml/2006/main">
            <a:pPr algn="l">
              <a:defRPr sz="1350" b="0">
                <a:solidFill>
                  <a:srgbClr val="020618"/>
                </a:solidFill>
              </a:defRPr>
            </a:pPr>
            <a:r>
              <a:rPr sz="1350" b="0">
                <a:solidFill>
                  <a:srgbClr val="020618"/>
                </a:solidFill>
              </a:rPr>
              <a:t>• 날짜 &gt; 우선순위 &gt; 추가 순서 기준 정렬</a:t>
            </a:r>
          </a:p>
          <a:p xmlns:a="http://schemas.openxmlformats.org/drawingml/2006/main">
            <a:pPr algn="l">
              <a:defRPr sz="1350" b="0">
                <a:solidFill>
                  <a:srgbClr val="020618"/>
                </a:solidFill>
              </a:defRPr>
            </a:pPr>
            <a:r>
              <a:rPr sz="1350" b="0">
                <a:solidFill>
                  <a:srgbClr val="020618"/>
                </a:solidFill>
              </a:rPr>
              <a:t>• 완료 항목은 아래쪽에 블러 처리</a:t>
            </a:r>
          </a:p>
        </p:txBody>
      </p:sp>
      <p:sp>
        <p:nvSpPr>
          <p:cNvPr id="10" name="">
            <a:extLst xmlns:a="http://schemas.openxmlformats.org/drawingml/2006/main">
              <a:ext uri="{FF2B5EF4-FFF2-40B4-BE49-F238E27FC236}">
                <a16:creationId xmlns:a16="http://schemas.microsoft.com/office/drawing/2014/main" id="{9110F643-CBD7-4C22-9AFF-153292424750}"/>
              </a:ext>
            </a:extLst>
          </p:cNvPr>
          <p:cNvSpPr>
            <a:spLocks xmlns:a="http://schemas.openxmlformats.org/drawingml/2006/main" noGrp="1"/>
          </p:cNvSpPr>
          <p:nvPr/>
        </p:nvSpPr>
        <p:spPr>
          <a:xfrm xmlns:a="http://schemas.openxmlformats.org/drawingml/2006/main">
            <a:off x="8858250" y="6496050"/>
            <a:ext cx="2647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90A1B9"/>
                </a:solidFill>
              </a:defRPr>
            </a:pPr>
            <a:r>
              <a:rPr sz="900" b="0">
                <a:solidFill>
                  <a:srgbClr val="90A1B9"/>
                </a:solidFill>
              </a:rPr>
              <a:t>웹디자인 프로젝트 보고서 | 11</a:t>
            </a:r>
          </a:p>
        </p:txBody>
      </p:sp>
    </p:spTree>
    <p:extLst>
      <p:ext uri="{BB962C8B-B14F-4D97-AF65-F5344CB8AC3E}">
        <p14:creationId xmlns:p14="http://schemas.microsoft.com/office/powerpoint/2010/main" val="1843807917"/>
      </p:ext>
    </p:extLst>
  </p:cSld>
</p:sld>
</file>

<file path=ppt/slides/slide1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3E65276-878A-4CED-AFB3-658D986B0B17}"/>
              </a:ext>
            </a:extLst>
          </p:cNvPr>
          <p:cNvSpPr>
            <a:spLocks xmlns:a="http://schemas.openxmlformats.org/drawingml/2006/main" noGrp="1"/>
          </p:cNvSpPr>
          <p:nvPr/>
        </p:nvSpPr>
        <p:spPr>
          <a:xfrm xmlns:a="http://schemas.openxmlformats.org/drawingml/2006/main">
            <a:off x="685800" y="4191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3158D4"/>
                </a:solidFill>
              </a:defRPr>
            </a:pPr>
            <a:r>
              <a:rPr sz="1200" b="1">
                <a:solidFill>
                  <a:srgbClr val="3158D4"/>
                </a:solidFill>
              </a:rPr>
              <a:t>LIFE CYCLE</a:t>
            </a:r>
          </a:p>
        </p:txBody>
      </p:sp>
      <p:sp>
        <p:nvSpPr>
          <p:cNvPr id="2" name="">
            <a:extLst xmlns:a="http://schemas.openxmlformats.org/drawingml/2006/main">
              <a:ext uri="{FF2B5EF4-FFF2-40B4-BE49-F238E27FC236}">
                <a16:creationId xmlns:a16="http://schemas.microsoft.com/office/drawing/2014/main" id="{CC4DAFF9-FDE6-489D-B08C-1FD25C5628EB}"/>
              </a:ext>
            </a:extLst>
          </p:cNvPr>
          <p:cNvSpPr>
            <a:spLocks xmlns:a="http://schemas.openxmlformats.org/drawingml/2006/main" noGrp="1"/>
          </p:cNvSpPr>
          <p:nvPr/>
        </p:nvSpPr>
        <p:spPr>
          <a:xfrm xmlns:a="http://schemas.openxmlformats.org/drawingml/2006/main">
            <a:off x="685800" y="838200"/>
            <a:ext cx="876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20618"/>
                </a:solidFill>
              </a:defRPr>
            </a:pPr>
            <a:r>
              <a:rPr sz="2850" b="1">
                <a:solidFill>
                  <a:srgbClr val="020618"/>
                </a:solidFill>
              </a:rPr>
              <a:t>구현결과 3</a:t>
            </a:r>
          </a:p>
        </p:txBody>
      </p:sp>
      <p:sp>
        <p:nvSpPr>
          <p:cNvPr id="3" name="">
            <a:extLst xmlns:a="http://schemas.openxmlformats.org/drawingml/2006/main">
              <a:ext uri="{FF2B5EF4-FFF2-40B4-BE49-F238E27FC236}">
                <a16:creationId xmlns:a16="http://schemas.microsoft.com/office/drawing/2014/main" id="{EE2A4B8D-F0EA-4FC6-BFCD-D0D3638EB4B9}"/>
              </a:ext>
            </a:extLst>
          </p:cNvPr>
          <p:cNvSpPr>
            <a:spLocks xmlns:a="http://schemas.openxmlformats.org/drawingml/2006/main" noGrp="1"/>
          </p:cNvSpPr>
          <p:nvPr/>
        </p:nvSpPr>
        <p:spPr>
          <a:xfrm xmlns:a="http://schemas.openxmlformats.org/drawingml/2006/main">
            <a:off x="704850" y="1409700"/>
            <a:ext cx="876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5556C"/>
                </a:solidFill>
              </a:defRPr>
            </a:pPr>
            <a:r>
              <a:rPr sz="1350" b="0">
                <a:solidFill>
                  <a:srgbClr val="45556C"/>
                </a:solidFill>
              </a:rPr>
              <a:t>습관 관리 화면</a:t>
            </a:r>
          </a:p>
        </p:txBody>
      </p:sp>
      <p:sp>
        <p:nvSpPr>
          <p:cNvPr id="4" name="">
            <a:extLst xmlns:a="http://schemas.openxmlformats.org/drawingml/2006/main">
              <a:ext uri="{FF2B5EF4-FFF2-40B4-BE49-F238E27FC236}">
                <a16:creationId xmlns:a16="http://schemas.microsoft.com/office/drawing/2014/main" id="{BCB15C3B-C144-4F04-97AE-73056799CBB1}"/>
              </a:ext>
            </a:extLst>
          </p:cNvPr>
          <p:cNvSpPr>
            <a:spLocks xmlns:a="http://schemas.openxmlformats.org/drawingml/2006/main" noGrp="1"/>
          </p:cNvSpPr>
          <p:nvPr/>
        </p:nvSpPr>
        <p:spPr>
          <a:xfrm xmlns:a="http://schemas.openxmlformats.org/drawingml/2006/main">
            <a:off x="685800" y="1866900"/>
            <a:ext cx="1082040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5" name="">
            <a:extLst xmlns:a="http://schemas.openxmlformats.org/drawingml/2006/main">
              <a:ext uri="{FF2B5EF4-FFF2-40B4-BE49-F238E27FC236}">
                <a16:creationId xmlns:a16="http://schemas.microsoft.com/office/drawing/2014/main" id="{AF00466D-2AFF-4531-9FB4-BD050A510F03}"/>
              </a:ext>
            </a:extLst>
          </p:cNvPr>
          <p:cNvSpPr>
            <a:spLocks xmlns:a="http://schemas.openxmlformats.org/drawingml/2006/main" noGrp="1"/>
          </p:cNvSpPr>
          <p:nvPr/>
        </p:nvSpPr>
        <p:spPr>
          <a:xfrm xmlns:a="http://schemas.openxmlformats.org/drawingml/2006/main">
            <a:off x="609600" y="1971675"/>
            <a:ext cx="7391400" cy="4248150"/>
          </a:xfrm>
          <a:prstGeom xmlns:a="http://schemas.openxmlformats.org/drawingml/2006/main" prst="roundRect">
            <a:avLst>
              <a:gd name="adj" fmla="val 4036"/>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2163397832a4a25"/>
          <a:stretch xmlns:a="http://schemas.openxmlformats.org/drawingml/2006/main"/>
        </p:blipFill>
        <p:spPr>
          <a:xfrm xmlns:a="http://schemas.openxmlformats.org/drawingml/2006/main">
            <a:off x="1028700" y="2047875"/>
            <a:ext cx="6553200" cy="4095750"/>
          </a:xfrm>
          <a:prstGeom xmlns:a="http://schemas.openxmlformats.org/drawingml/2006/main" prst="roundRect">
            <a:avLst>
              <a:gd name="adj" fmla="val 2791"/>
            </a:avLst>
          </a:prstGeom>
        </p:spPr>
      </p:pic>
      <p:sp>
        <p:nvSpPr>
          <p:cNvPr id="7" name="">
            <a:extLst xmlns:a="http://schemas.openxmlformats.org/drawingml/2006/main">
              <a:ext uri="{FF2B5EF4-FFF2-40B4-BE49-F238E27FC236}">
                <a16:creationId xmlns:a16="http://schemas.microsoft.com/office/drawing/2014/main" id="{D4847A3B-B7F1-4B0A-8136-058DC4CF02BF}"/>
              </a:ext>
            </a:extLst>
          </p:cNvPr>
          <p:cNvSpPr>
            <a:spLocks xmlns:a="http://schemas.openxmlformats.org/drawingml/2006/main" noGrp="1"/>
          </p:cNvSpPr>
          <p:nvPr/>
        </p:nvSpPr>
        <p:spPr>
          <a:xfrm xmlns:a="http://schemas.openxmlformats.org/drawingml/2006/main">
            <a:off x="8286750" y="2190750"/>
            <a:ext cx="3219450" cy="3714750"/>
          </a:xfrm>
          <a:prstGeom xmlns:a="http://schemas.openxmlformats.org/drawingml/2006/main" prst="roundRect">
            <a:avLst>
              <a:gd name="adj" fmla="val 5325"/>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2E5CEF44-0D12-48D9-8F9D-6117A823B231}"/>
              </a:ext>
            </a:extLst>
          </p:cNvPr>
          <p:cNvSpPr>
            <a:spLocks xmlns:a="http://schemas.openxmlformats.org/drawingml/2006/main" noGrp="1"/>
          </p:cNvSpPr>
          <p:nvPr/>
        </p:nvSpPr>
        <p:spPr>
          <a:xfrm xmlns:a="http://schemas.openxmlformats.org/drawingml/2006/main">
            <a:off x="8591550" y="25146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3158D4"/>
                </a:solidFill>
              </a:defRPr>
            </a:pPr>
            <a:r>
              <a:rPr sz="1800" b="1">
                <a:solidFill>
                  <a:srgbClr val="3158D4"/>
                </a:solidFill>
              </a:rPr>
              <a:t>주요 기능</a:t>
            </a:r>
          </a:p>
        </p:txBody>
      </p:sp>
      <p:sp>
        <p:nvSpPr>
          <p:cNvPr id="9" name="">
            <a:extLst xmlns:a="http://schemas.openxmlformats.org/drawingml/2006/main">
              <a:ext uri="{FF2B5EF4-FFF2-40B4-BE49-F238E27FC236}">
                <a16:creationId xmlns:a16="http://schemas.microsoft.com/office/drawing/2014/main" id="{E7CF2E95-77C6-4BF2-99A6-FC93CE5E4AEC}"/>
              </a:ext>
            </a:extLst>
          </p:cNvPr>
          <p:cNvSpPr>
            <a:spLocks xmlns:a="http://schemas.openxmlformats.org/drawingml/2006/main" noGrp="1"/>
          </p:cNvSpPr>
          <p:nvPr/>
        </p:nvSpPr>
        <p:spPr>
          <a:xfrm xmlns:a="http://schemas.openxmlformats.org/drawingml/2006/main">
            <a:off x="8591550" y="2990850"/>
            <a:ext cx="25717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20618"/>
                </a:solidFill>
              </a:defRPr>
            </a:pPr>
            <a:r>
              <a:rPr sz="1350" b="0">
                <a:solidFill>
                  <a:srgbClr val="020618"/>
                </a:solidFill>
              </a:rPr>
              <a:t>• 습관 추가 및 오늘 완료 처리</a:t>
            </a:r>
          </a:p>
          <a:p xmlns:a="http://schemas.openxmlformats.org/drawingml/2006/main">
            <a:pPr algn="l">
              <a:defRPr sz="1350" b="0">
                <a:solidFill>
                  <a:srgbClr val="020618"/>
                </a:solidFill>
              </a:defRPr>
            </a:pPr>
            <a:r>
              <a:rPr sz="1350" b="0">
                <a:solidFill>
                  <a:srgbClr val="020618"/>
                </a:solidFill>
              </a:rPr>
              <a:t>• 완료된 습관은 하단으로 정렬</a:t>
            </a:r>
          </a:p>
          <a:p xmlns:a="http://schemas.openxmlformats.org/drawingml/2006/main">
            <a:pPr algn="l">
              <a:defRPr sz="1350" b="0">
                <a:solidFill>
                  <a:srgbClr val="020618"/>
                </a:solidFill>
              </a:defRPr>
            </a:pPr>
            <a:r>
              <a:rPr sz="1350" b="0">
                <a:solidFill>
                  <a:srgbClr val="020618"/>
                </a:solidFill>
              </a:rPr>
              <a:t>• 연속 수행 랭킹 1~3위 표시</a:t>
            </a:r>
          </a:p>
          <a:p xmlns:a="http://schemas.openxmlformats.org/drawingml/2006/main">
            <a:pPr algn="l">
              <a:defRPr sz="1350" b="0">
                <a:solidFill>
                  <a:srgbClr val="020618"/>
                </a:solidFill>
              </a:defRPr>
            </a:pPr>
            <a:r>
              <a:rPr sz="1350" b="0">
                <a:solidFill>
                  <a:srgbClr val="020618"/>
                </a:solidFill>
              </a:rPr>
              <a:t>• 한 달 평균 달성률과 개별 달성률 표시</a:t>
            </a:r>
          </a:p>
        </p:txBody>
      </p:sp>
      <p:sp>
        <p:nvSpPr>
          <p:cNvPr id="10" name="">
            <a:extLst xmlns:a="http://schemas.openxmlformats.org/drawingml/2006/main">
              <a:ext uri="{FF2B5EF4-FFF2-40B4-BE49-F238E27FC236}">
                <a16:creationId xmlns:a16="http://schemas.microsoft.com/office/drawing/2014/main" id="{A2138C9E-CE9F-4771-A956-59C4634E058B}"/>
              </a:ext>
            </a:extLst>
          </p:cNvPr>
          <p:cNvSpPr>
            <a:spLocks xmlns:a="http://schemas.openxmlformats.org/drawingml/2006/main" noGrp="1"/>
          </p:cNvSpPr>
          <p:nvPr/>
        </p:nvSpPr>
        <p:spPr>
          <a:xfrm xmlns:a="http://schemas.openxmlformats.org/drawingml/2006/main">
            <a:off x="8858250" y="6496050"/>
            <a:ext cx="2647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90A1B9"/>
                </a:solidFill>
              </a:defRPr>
            </a:pPr>
            <a:r>
              <a:rPr sz="900" b="0">
                <a:solidFill>
                  <a:srgbClr val="90A1B9"/>
                </a:solidFill>
              </a:rPr>
              <a:t>웹디자인 프로젝트 보고서 | 12</a:t>
            </a:r>
          </a:p>
        </p:txBody>
      </p:sp>
    </p:spTree>
    <p:extLst>
      <p:ext uri="{BB962C8B-B14F-4D97-AF65-F5344CB8AC3E}">
        <p14:creationId xmlns:p14="http://schemas.microsoft.com/office/powerpoint/2010/main" val="749850818"/>
      </p:ext>
    </p:extLst>
  </p:cSld>
</p:sld>
</file>

<file path=ppt/slides/slide1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BCC0B51-AFB5-460A-991B-8AFE6A193710}"/>
              </a:ext>
            </a:extLst>
          </p:cNvPr>
          <p:cNvSpPr>
            <a:spLocks xmlns:a="http://schemas.openxmlformats.org/drawingml/2006/main" noGrp="1"/>
          </p:cNvSpPr>
          <p:nvPr/>
        </p:nvSpPr>
        <p:spPr>
          <a:xfrm xmlns:a="http://schemas.openxmlformats.org/drawingml/2006/main">
            <a:off x="685800" y="4191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3158D4"/>
                </a:solidFill>
              </a:defRPr>
            </a:pPr>
            <a:r>
              <a:rPr sz="1200" b="1">
                <a:solidFill>
                  <a:srgbClr val="3158D4"/>
                </a:solidFill>
              </a:rPr>
              <a:t>LIFE CYCLE</a:t>
            </a:r>
          </a:p>
        </p:txBody>
      </p:sp>
      <p:sp>
        <p:nvSpPr>
          <p:cNvPr id="2" name="">
            <a:extLst xmlns:a="http://schemas.openxmlformats.org/drawingml/2006/main">
              <a:ext uri="{FF2B5EF4-FFF2-40B4-BE49-F238E27FC236}">
                <a16:creationId xmlns:a16="http://schemas.microsoft.com/office/drawing/2014/main" id="{C8E4D136-E0F9-44F2-BE73-E13081FB1352}"/>
              </a:ext>
            </a:extLst>
          </p:cNvPr>
          <p:cNvSpPr>
            <a:spLocks xmlns:a="http://schemas.openxmlformats.org/drawingml/2006/main" noGrp="1"/>
          </p:cNvSpPr>
          <p:nvPr/>
        </p:nvSpPr>
        <p:spPr>
          <a:xfrm xmlns:a="http://schemas.openxmlformats.org/drawingml/2006/main">
            <a:off x="685800" y="838200"/>
            <a:ext cx="876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20618"/>
                </a:solidFill>
              </a:defRPr>
            </a:pPr>
            <a:r>
              <a:rPr sz="2850" b="1">
                <a:solidFill>
                  <a:srgbClr val="020618"/>
                </a:solidFill>
              </a:rPr>
              <a:t>구현결과 4</a:t>
            </a:r>
          </a:p>
        </p:txBody>
      </p:sp>
      <p:sp>
        <p:nvSpPr>
          <p:cNvPr id="3" name="">
            <a:extLst xmlns:a="http://schemas.openxmlformats.org/drawingml/2006/main">
              <a:ext uri="{FF2B5EF4-FFF2-40B4-BE49-F238E27FC236}">
                <a16:creationId xmlns:a16="http://schemas.microsoft.com/office/drawing/2014/main" id="{958FE66E-CD67-4B3F-A22A-0FD275829674}"/>
              </a:ext>
            </a:extLst>
          </p:cNvPr>
          <p:cNvSpPr>
            <a:spLocks xmlns:a="http://schemas.openxmlformats.org/drawingml/2006/main" noGrp="1"/>
          </p:cNvSpPr>
          <p:nvPr/>
        </p:nvSpPr>
        <p:spPr>
          <a:xfrm xmlns:a="http://schemas.openxmlformats.org/drawingml/2006/main">
            <a:off x="704850" y="1409700"/>
            <a:ext cx="876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5556C"/>
                </a:solidFill>
              </a:defRPr>
            </a:pPr>
            <a:r>
              <a:rPr sz="1350" b="0">
                <a:solidFill>
                  <a:srgbClr val="45556C"/>
                </a:solidFill>
              </a:rPr>
              <a:t>날짜별 한 줄 일기 화면</a:t>
            </a:r>
          </a:p>
        </p:txBody>
      </p:sp>
      <p:sp>
        <p:nvSpPr>
          <p:cNvPr id="4" name="">
            <a:extLst xmlns:a="http://schemas.openxmlformats.org/drawingml/2006/main">
              <a:ext uri="{FF2B5EF4-FFF2-40B4-BE49-F238E27FC236}">
                <a16:creationId xmlns:a16="http://schemas.microsoft.com/office/drawing/2014/main" id="{3E3421A6-E792-4890-B536-2B6EA864C70A}"/>
              </a:ext>
            </a:extLst>
          </p:cNvPr>
          <p:cNvSpPr>
            <a:spLocks xmlns:a="http://schemas.openxmlformats.org/drawingml/2006/main" noGrp="1"/>
          </p:cNvSpPr>
          <p:nvPr/>
        </p:nvSpPr>
        <p:spPr>
          <a:xfrm xmlns:a="http://schemas.openxmlformats.org/drawingml/2006/main">
            <a:off x="685800" y="1866900"/>
            <a:ext cx="1082040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5" name="">
            <a:extLst xmlns:a="http://schemas.openxmlformats.org/drawingml/2006/main">
              <a:ext uri="{FF2B5EF4-FFF2-40B4-BE49-F238E27FC236}">
                <a16:creationId xmlns:a16="http://schemas.microsoft.com/office/drawing/2014/main" id="{60011AC7-5B7B-4B88-BCD2-9BD90457B1F0}"/>
              </a:ext>
            </a:extLst>
          </p:cNvPr>
          <p:cNvSpPr>
            <a:spLocks xmlns:a="http://schemas.openxmlformats.org/drawingml/2006/main" noGrp="1"/>
          </p:cNvSpPr>
          <p:nvPr/>
        </p:nvSpPr>
        <p:spPr>
          <a:xfrm xmlns:a="http://schemas.openxmlformats.org/drawingml/2006/main">
            <a:off x="609600" y="1971675"/>
            <a:ext cx="7391400" cy="4248150"/>
          </a:xfrm>
          <a:prstGeom xmlns:a="http://schemas.openxmlformats.org/drawingml/2006/main" prst="roundRect">
            <a:avLst>
              <a:gd name="adj" fmla="val 4036"/>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82f08d8b1df44d7"/>
          <a:stretch xmlns:a="http://schemas.openxmlformats.org/drawingml/2006/main"/>
        </p:blipFill>
        <p:spPr>
          <a:xfrm xmlns:a="http://schemas.openxmlformats.org/drawingml/2006/main">
            <a:off x="1028700" y="2047875"/>
            <a:ext cx="6553200" cy="4095750"/>
          </a:xfrm>
          <a:prstGeom xmlns:a="http://schemas.openxmlformats.org/drawingml/2006/main" prst="roundRect">
            <a:avLst>
              <a:gd name="adj" fmla="val 2791"/>
            </a:avLst>
          </a:prstGeom>
        </p:spPr>
      </p:pic>
      <p:sp>
        <p:nvSpPr>
          <p:cNvPr id="7" name="">
            <a:extLst xmlns:a="http://schemas.openxmlformats.org/drawingml/2006/main">
              <a:ext uri="{FF2B5EF4-FFF2-40B4-BE49-F238E27FC236}">
                <a16:creationId xmlns:a16="http://schemas.microsoft.com/office/drawing/2014/main" id="{E2C8BC51-C8EC-453B-A4D8-CD9E93A9A23F}"/>
              </a:ext>
            </a:extLst>
          </p:cNvPr>
          <p:cNvSpPr>
            <a:spLocks xmlns:a="http://schemas.openxmlformats.org/drawingml/2006/main" noGrp="1"/>
          </p:cNvSpPr>
          <p:nvPr/>
        </p:nvSpPr>
        <p:spPr>
          <a:xfrm xmlns:a="http://schemas.openxmlformats.org/drawingml/2006/main">
            <a:off x="8286750" y="2190750"/>
            <a:ext cx="3219450" cy="3714750"/>
          </a:xfrm>
          <a:prstGeom xmlns:a="http://schemas.openxmlformats.org/drawingml/2006/main" prst="roundRect">
            <a:avLst>
              <a:gd name="adj" fmla="val 5325"/>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41083C35-AE36-4CA4-9C84-5999F851763F}"/>
              </a:ext>
            </a:extLst>
          </p:cNvPr>
          <p:cNvSpPr>
            <a:spLocks xmlns:a="http://schemas.openxmlformats.org/drawingml/2006/main" noGrp="1"/>
          </p:cNvSpPr>
          <p:nvPr/>
        </p:nvSpPr>
        <p:spPr>
          <a:xfrm xmlns:a="http://schemas.openxmlformats.org/drawingml/2006/main">
            <a:off x="8591550" y="25146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3158D4"/>
                </a:solidFill>
              </a:defRPr>
            </a:pPr>
            <a:r>
              <a:rPr sz="1800" b="1">
                <a:solidFill>
                  <a:srgbClr val="3158D4"/>
                </a:solidFill>
              </a:rPr>
              <a:t>주요 기능</a:t>
            </a:r>
          </a:p>
        </p:txBody>
      </p:sp>
      <p:sp>
        <p:nvSpPr>
          <p:cNvPr id="9" name="">
            <a:extLst xmlns:a="http://schemas.openxmlformats.org/drawingml/2006/main">
              <a:ext uri="{FF2B5EF4-FFF2-40B4-BE49-F238E27FC236}">
                <a16:creationId xmlns:a16="http://schemas.microsoft.com/office/drawing/2014/main" id="{2C311067-550E-4F54-AE06-72B5554A46C7}"/>
              </a:ext>
            </a:extLst>
          </p:cNvPr>
          <p:cNvSpPr>
            <a:spLocks xmlns:a="http://schemas.openxmlformats.org/drawingml/2006/main" noGrp="1"/>
          </p:cNvSpPr>
          <p:nvPr/>
        </p:nvSpPr>
        <p:spPr>
          <a:xfrm xmlns:a="http://schemas.openxmlformats.org/drawingml/2006/main">
            <a:off x="8591550" y="2990850"/>
            <a:ext cx="25717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20618"/>
                </a:solidFill>
              </a:defRPr>
            </a:pPr>
            <a:r>
              <a:rPr sz="1350" b="0">
                <a:solidFill>
                  <a:srgbClr val="020618"/>
                </a:solidFill>
              </a:rPr>
              <a:t>• 월별 날짜 레일에서 작성 날짜 확인</a:t>
            </a:r>
          </a:p>
          <a:p xmlns:a="http://schemas.openxmlformats.org/drawingml/2006/main">
            <a:pPr algn="l">
              <a:defRPr sz="1350" b="0">
                <a:solidFill>
                  <a:srgbClr val="020618"/>
                </a:solidFill>
              </a:defRPr>
            </a:pPr>
            <a:r>
              <a:rPr sz="1350" b="0">
                <a:solidFill>
                  <a:srgbClr val="020618"/>
                </a:solidFill>
              </a:rPr>
              <a:t>• 일기 추가 모달에서 날짜 변경 가능</a:t>
            </a:r>
          </a:p>
          <a:p xmlns:a="http://schemas.openxmlformats.org/drawingml/2006/main">
            <a:pPr algn="l">
              <a:defRPr sz="1350" b="0">
                <a:solidFill>
                  <a:srgbClr val="020618"/>
                </a:solidFill>
              </a:defRPr>
            </a:pPr>
            <a:r>
              <a:rPr sz="1350" b="0">
                <a:solidFill>
                  <a:srgbClr val="020618"/>
                </a:solidFill>
              </a:rPr>
              <a:t>• 이모티콘과 한 줄 일기 저장</a:t>
            </a:r>
          </a:p>
          <a:p xmlns:a="http://schemas.openxmlformats.org/drawingml/2006/main">
            <a:pPr algn="l">
              <a:defRPr sz="1350" b="0">
                <a:solidFill>
                  <a:srgbClr val="020618"/>
                </a:solidFill>
              </a:defRPr>
            </a:pPr>
            <a:r>
              <a:rPr sz="1350" b="0">
                <a:solidFill>
                  <a:srgbClr val="020618"/>
                </a:solidFill>
              </a:rPr>
              <a:t>• 우측 목록에서 작성한 일기를 연속 확인</a:t>
            </a:r>
          </a:p>
        </p:txBody>
      </p:sp>
      <p:sp>
        <p:nvSpPr>
          <p:cNvPr id="10" name="">
            <a:extLst xmlns:a="http://schemas.openxmlformats.org/drawingml/2006/main">
              <a:ext uri="{FF2B5EF4-FFF2-40B4-BE49-F238E27FC236}">
                <a16:creationId xmlns:a16="http://schemas.microsoft.com/office/drawing/2014/main" id="{31ADB57B-A5E5-4B8A-B1A2-40D4C63F3782}"/>
              </a:ext>
            </a:extLst>
          </p:cNvPr>
          <p:cNvSpPr>
            <a:spLocks xmlns:a="http://schemas.openxmlformats.org/drawingml/2006/main" noGrp="1"/>
          </p:cNvSpPr>
          <p:nvPr/>
        </p:nvSpPr>
        <p:spPr>
          <a:xfrm xmlns:a="http://schemas.openxmlformats.org/drawingml/2006/main">
            <a:off x="8858250" y="6496050"/>
            <a:ext cx="2647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90A1B9"/>
                </a:solidFill>
              </a:defRPr>
            </a:pPr>
            <a:r>
              <a:rPr sz="900" b="0">
                <a:solidFill>
                  <a:srgbClr val="90A1B9"/>
                </a:solidFill>
              </a:rPr>
              <a:t>웹디자인 프로젝트 보고서 | 13</a:t>
            </a:r>
          </a:p>
        </p:txBody>
      </p:sp>
    </p:spTree>
    <p:extLst>
      <p:ext uri="{BB962C8B-B14F-4D97-AF65-F5344CB8AC3E}">
        <p14:creationId xmlns:p14="http://schemas.microsoft.com/office/powerpoint/2010/main" val="1311371294"/>
      </p:ext>
    </p:extLst>
  </p:cSld>
</p:sld>
</file>

<file path=ppt/slides/slide1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1E78126-00A5-400B-965E-7549530D4041}"/>
              </a:ext>
            </a:extLst>
          </p:cNvPr>
          <p:cNvSpPr>
            <a:spLocks xmlns:a="http://schemas.openxmlformats.org/drawingml/2006/main" noGrp="1"/>
          </p:cNvSpPr>
          <p:nvPr/>
        </p:nvSpPr>
        <p:spPr>
          <a:xfrm xmlns:a="http://schemas.openxmlformats.org/drawingml/2006/main">
            <a:off x="685800" y="4191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3158D4"/>
                </a:solidFill>
              </a:defRPr>
            </a:pPr>
            <a:r>
              <a:rPr sz="1200" b="1">
                <a:solidFill>
                  <a:srgbClr val="3158D4"/>
                </a:solidFill>
              </a:rPr>
              <a:t>LIFE CYCLE</a:t>
            </a:r>
          </a:p>
        </p:txBody>
      </p:sp>
      <p:sp>
        <p:nvSpPr>
          <p:cNvPr id="2" name="">
            <a:extLst xmlns:a="http://schemas.openxmlformats.org/drawingml/2006/main">
              <a:ext uri="{FF2B5EF4-FFF2-40B4-BE49-F238E27FC236}">
                <a16:creationId xmlns:a16="http://schemas.microsoft.com/office/drawing/2014/main" id="{617155EE-38B7-415E-A7C5-9E55A639B1A4}"/>
              </a:ext>
            </a:extLst>
          </p:cNvPr>
          <p:cNvSpPr>
            <a:spLocks xmlns:a="http://schemas.openxmlformats.org/drawingml/2006/main" noGrp="1"/>
          </p:cNvSpPr>
          <p:nvPr/>
        </p:nvSpPr>
        <p:spPr>
          <a:xfrm xmlns:a="http://schemas.openxmlformats.org/drawingml/2006/main">
            <a:off x="685800" y="838200"/>
            <a:ext cx="876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20618"/>
                </a:solidFill>
              </a:defRPr>
            </a:pPr>
            <a:r>
              <a:rPr sz="2850" b="1">
                <a:solidFill>
                  <a:srgbClr val="020618"/>
                </a:solidFill>
              </a:rPr>
              <a:t>구현결과 5</a:t>
            </a:r>
          </a:p>
        </p:txBody>
      </p:sp>
      <p:sp>
        <p:nvSpPr>
          <p:cNvPr id="3" name="">
            <a:extLst xmlns:a="http://schemas.openxmlformats.org/drawingml/2006/main">
              <a:ext uri="{FF2B5EF4-FFF2-40B4-BE49-F238E27FC236}">
                <a16:creationId xmlns:a16="http://schemas.microsoft.com/office/drawing/2014/main" id="{A55FDF07-4DE2-42EE-9C31-8852FE227B96}"/>
              </a:ext>
            </a:extLst>
          </p:cNvPr>
          <p:cNvSpPr>
            <a:spLocks xmlns:a="http://schemas.openxmlformats.org/drawingml/2006/main" noGrp="1"/>
          </p:cNvSpPr>
          <p:nvPr/>
        </p:nvSpPr>
        <p:spPr>
          <a:xfrm xmlns:a="http://schemas.openxmlformats.org/drawingml/2006/main">
            <a:off x="704850" y="1409700"/>
            <a:ext cx="876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5556C"/>
                </a:solidFill>
              </a:defRPr>
            </a:pPr>
            <a:r>
              <a:rPr sz="1350" b="0">
                <a:solidFill>
                  <a:srgbClr val="45556C"/>
                </a:solidFill>
              </a:rPr>
              <a:t>AI 브리핑 화면</a:t>
            </a:r>
          </a:p>
        </p:txBody>
      </p:sp>
      <p:sp>
        <p:nvSpPr>
          <p:cNvPr id="4" name="">
            <a:extLst xmlns:a="http://schemas.openxmlformats.org/drawingml/2006/main">
              <a:ext uri="{FF2B5EF4-FFF2-40B4-BE49-F238E27FC236}">
                <a16:creationId xmlns:a16="http://schemas.microsoft.com/office/drawing/2014/main" id="{D8B7E836-40B1-432D-9410-956BCA6C15AF}"/>
              </a:ext>
            </a:extLst>
          </p:cNvPr>
          <p:cNvSpPr>
            <a:spLocks xmlns:a="http://schemas.openxmlformats.org/drawingml/2006/main" noGrp="1"/>
          </p:cNvSpPr>
          <p:nvPr/>
        </p:nvSpPr>
        <p:spPr>
          <a:xfrm xmlns:a="http://schemas.openxmlformats.org/drawingml/2006/main">
            <a:off x="685800" y="1866900"/>
            <a:ext cx="1082040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5" name="">
            <a:extLst xmlns:a="http://schemas.openxmlformats.org/drawingml/2006/main">
              <a:ext uri="{FF2B5EF4-FFF2-40B4-BE49-F238E27FC236}">
                <a16:creationId xmlns:a16="http://schemas.microsoft.com/office/drawing/2014/main" id="{EF85DC91-774F-4A9D-A315-7477E35B69E6}"/>
              </a:ext>
            </a:extLst>
          </p:cNvPr>
          <p:cNvSpPr>
            <a:spLocks xmlns:a="http://schemas.openxmlformats.org/drawingml/2006/main" noGrp="1"/>
          </p:cNvSpPr>
          <p:nvPr/>
        </p:nvSpPr>
        <p:spPr>
          <a:xfrm xmlns:a="http://schemas.openxmlformats.org/drawingml/2006/main">
            <a:off x="609600" y="1971675"/>
            <a:ext cx="7391400" cy="4248150"/>
          </a:xfrm>
          <a:prstGeom xmlns:a="http://schemas.openxmlformats.org/drawingml/2006/main" prst="roundRect">
            <a:avLst>
              <a:gd name="adj" fmla="val 4036"/>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5dd64cc1a33401e"/>
          <a:stretch xmlns:a="http://schemas.openxmlformats.org/drawingml/2006/main"/>
        </p:blipFill>
        <p:spPr>
          <a:xfrm xmlns:a="http://schemas.openxmlformats.org/drawingml/2006/main">
            <a:off x="1028700" y="2047875"/>
            <a:ext cx="6553200" cy="4095750"/>
          </a:xfrm>
          <a:prstGeom xmlns:a="http://schemas.openxmlformats.org/drawingml/2006/main" prst="roundRect">
            <a:avLst>
              <a:gd name="adj" fmla="val 2791"/>
            </a:avLst>
          </a:prstGeom>
        </p:spPr>
      </p:pic>
      <p:sp>
        <p:nvSpPr>
          <p:cNvPr id="7" name="">
            <a:extLst xmlns:a="http://schemas.openxmlformats.org/drawingml/2006/main">
              <a:ext uri="{FF2B5EF4-FFF2-40B4-BE49-F238E27FC236}">
                <a16:creationId xmlns:a16="http://schemas.microsoft.com/office/drawing/2014/main" id="{C2B06C92-44A5-4387-BCBF-64906A58B91E}"/>
              </a:ext>
            </a:extLst>
          </p:cNvPr>
          <p:cNvSpPr>
            <a:spLocks xmlns:a="http://schemas.openxmlformats.org/drawingml/2006/main" noGrp="1"/>
          </p:cNvSpPr>
          <p:nvPr/>
        </p:nvSpPr>
        <p:spPr>
          <a:xfrm xmlns:a="http://schemas.openxmlformats.org/drawingml/2006/main">
            <a:off x="8286750" y="2190750"/>
            <a:ext cx="3219450" cy="3714750"/>
          </a:xfrm>
          <a:prstGeom xmlns:a="http://schemas.openxmlformats.org/drawingml/2006/main" prst="roundRect">
            <a:avLst>
              <a:gd name="adj" fmla="val 5325"/>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2B912658-106F-41FA-9A3D-59B25090F219}"/>
              </a:ext>
            </a:extLst>
          </p:cNvPr>
          <p:cNvSpPr>
            <a:spLocks xmlns:a="http://schemas.openxmlformats.org/drawingml/2006/main" noGrp="1"/>
          </p:cNvSpPr>
          <p:nvPr/>
        </p:nvSpPr>
        <p:spPr>
          <a:xfrm xmlns:a="http://schemas.openxmlformats.org/drawingml/2006/main">
            <a:off x="8591550" y="25146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3158D4"/>
                </a:solidFill>
              </a:defRPr>
            </a:pPr>
            <a:r>
              <a:rPr sz="1800" b="1">
                <a:solidFill>
                  <a:srgbClr val="3158D4"/>
                </a:solidFill>
              </a:rPr>
              <a:t>주요 기능</a:t>
            </a:r>
          </a:p>
        </p:txBody>
      </p:sp>
      <p:sp>
        <p:nvSpPr>
          <p:cNvPr id="9" name="">
            <a:extLst xmlns:a="http://schemas.openxmlformats.org/drawingml/2006/main">
              <a:ext uri="{FF2B5EF4-FFF2-40B4-BE49-F238E27FC236}">
                <a16:creationId xmlns:a16="http://schemas.microsoft.com/office/drawing/2014/main" id="{76F3E192-2710-47AE-B966-6AACBF7512BC}"/>
              </a:ext>
            </a:extLst>
          </p:cNvPr>
          <p:cNvSpPr>
            <a:spLocks xmlns:a="http://schemas.openxmlformats.org/drawingml/2006/main" noGrp="1"/>
          </p:cNvSpPr>
          <p:nvPr/>
        </p:nvSpPr>
        <p:spPr>
          <a:xfrm xmlns:a="http://schemas.openxmlformats.org/drawingml/2006/main">
            <a:off x="8591550" y="2990850"/>
            <a:ext cx="25717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20618"/>
                </a:solidFill>
              </a:defRPr>
            </a:pPr>
            <a:r>
              <a:rPr sz="1350" b="0">
                <a:solidFill>
                  <a:srgbClr val="020618"/>
                </a:solidFill>
              </a:rPr>
              <a:t>• 브리핑 대상 일정은 시간순 표시</a:t>
            </a:r>
          </a:p>
          <a:p xmlns:a="http://schemas.openxmlformats.org/drawingml/2006/main">
            <a:pPr algn="l">
              <a:defRPr sz="1350" b="0">
                <a:solidFill>
                  <a:srgbClr val="020618"/>
                </a:solidFill>
              </a:defRPr>
            </a:pPr>
            <a:r>
              <a:rPr sz="1350" b="0">
                <a:solidFill>
                  <a:srgbClr val="020618"/>
                </a:solidFill>
              </a:rPr>
              <a:t>• 일정에 대해 직접 질문 가능</a:t>
            </a:r>
          </a:p>
          <a:p xmlns:a="http://schemas.openxmlformats.org/drawingml/2006/main">
            <a:pPr algn="l">
              <a:defRPr sz="1350" b="0">
                <a:solidFill>
                  <a:srgbClr val="020618"/>
                </a:solidFill>
              </a:defRPr>
            </a:pPr>
            <a:r>
              <a:rPr sz="1350" b="0">
                <a:solidFill>
                  <a:srgbClr val="020618"/>
                </a:solidFill>
              </a:rPr>
              <a:t>• OpenWeatherMap 키는 과제용 설정</a:t>
            </a:r>
          </a:p>
          <a:p xmlns:a="http://schemas.openxmlformats.org/drawingml/2006/main">
            <a:pPr algn="l">
              <a:defRPr sz="1350" b="0">
                <a:solidFill>
                  <a:srgbClr val="020618"/>
                </a:solidFill>
              </a:defRPr>
            </a:pPr>
            <a:r>
              <a:rPr sz="1350" b="0">
                <a:solidFill>
                  <a:srgbClr val="020618"/>
                </a:solidFill>
              </a:rPr>
              <a:t>• OpenRouter 키는 사용 시 직접 입력 후 저장하지 않음</a:t>
            </a:r>
          </a:p>
        </p:txBody>
      </p:sp>
      <p:sp>
        <p:nvSpPr>
          <p:cNvPr id="10" name="">
            <a:extLst xmlns:a="http://schemas.openxmlformats.org/drawingml/2006/main">
              <a:ext uri="{FF2B5EF4-FFF2-40B4-BE49-F238E27FC236}">
                <a16:creationId xmlns:a16="http://schemas.microsoft.com/office/drawing/2014/main" id="{CDA94109-8080-4093-8657-407A092176CB}"/>
              </a:ext>
            </a:extLst>
          </p:cNvPr>
          <p:cNvSpPr>
            <a:spLocks xmlns:a="http://schemas.openxmlformats.org/drawingml/2006/main" noGrp="1"/>
          </p:cNvSpPr>
          <p:nvPr/>
        </p:nvSpPr>
        <p:spPr>
          <a:xfrm xmlns:a="http://schemas.openxmlformats.org/drawingml/2006/main">
            <a:off x="8858250" y="6496050"/>
            <a:ext cx="2647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90A1B9"/>
                </a:solidFill>
              </a:defRPr>
            </a:pPr>
            <a:r>
              <a:rPr sz="900" b="0">
                <a:solidFill>
                  <a:srgbClr val="90A1B9"/>
                </a:solidFill>
              </a:rPr>
              <a:t>웹디자인 프로젝트 보고서 | 14</a:t>
            </a:r>
          </a:p>
        </p:txBody>
      </p:sp>
    </p:spTree>
    <p:extLst>
      <p:ext uri="{BB962C8B-B14F-4D97-AF65-F5344CB8AC3E}">
        <p14:creationId xmlns:p14="http://schemas.microsoft.com/office/powerpoint/2010/main" val="617671564"/>
      </p:ext>
    </p:extLst>
  </p:cSld>
</p:sld>
</file>

<file path=ppt/slides/slide1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4D865EF-E7A8-4B90-9617-D41639CC5CCB}"/>
              </a:ext>
            </a:extLst>
          </p:cNvPr>
          <p:cNvSpPr>
            <a:spLocks xmlns:a="http://schemas.openxmlformats.org/drawingml/2006/main" noGrp="1"/>
          </p:cNvSpPr>
          <p:nvPr/>
        </p:nvSpPr>
        <p:spPr>
          <a:xfrm xmlns:a="http://schemas.openxmlformats.org/drawingml/2006/main">
            <a:off x="685800" y="4191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3158D4"/>
                </a:solidFill>
              </a:defRPr>
            </a:pPr>
            <a:r>
              <a:rPr sz="1200" b="1">
                <a:solidFill>
                  <a:srgbClr val="3158D4"/>
                </a:solidFill>
              </a:rPr>
              <a:t>LIFE CYCLE</a:t>
            </a:r>
          </a:p>
        </p:txBody>
      </p:sp>
      <p:sp>
        <p:nvSpPr>
          <p:cNvPr id="2" name="">
            <a:extLst xmlns:a="http://schemas.openxmlformats.org/drawingml/2006/main">
              <a:ext uri="{FF2B5EF4-FFF2-40B4-BE49-F238E27FC236}">
                <a16:creationId xmlns:a16="http://schemas.microsoft.com/office/drawing/2014/main" id="{ADE0E8F5-36B4-49D1-9420-C7D148698BE8}"/>
              </a:ext>
            </a:extLst>
          </p:cNvPr>
          <p:cNvSpPr>
            <a:spLocks xmlns:a="http://schemas.openxmlformats.org/drawingml/2006/main" noGrp="1"/>
          </p:cNvSpPr>
          <p:nvPr/>
        </p:nvSpPr>
        <p:spPr>
          <a:xfrm xmlns:a="http://schemas.openxmlformats.org/drawingml/2006/main">
            <a:off x="685800" y="838200"/>
            <a:ext cx="876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20618"/>
                </a:solidFill>
              </a:defRPr>
            </a:pPr>
            <a:r>
              <a:rPr sz="2850" b="1">
                <a:solidFill>
                  <a:srgbClr val="020618"/>
                </a:solidFill>
              </a:rPr>
              <a:t>데이터 저장 및 API 설계</a:t>
            </a:r>
          </a:p>
        </p:txBody>
      </p:sp>
      <p:sp>
        <p:nvSpPr>
          <p:cNvPr id="3" name="">
            <a:extLst xmlns:a="http://schemas.openxmlformats.org/drawingml/2006/main">
              <a:ext uri="{FF2B5EF4-FFF2-40B4-BE49-F238E27FC236}">
                <a16:creationId xmlns:a16="http://schemas.microsoft.com/office/drawing/2014/main" id="{C441896E-D266-4931-B97F-3CA25AC414A2}"/>
              </a:ext>
            </a:extLst>
          </p:cNvPr>
          <p:cNvSpPr>
            <a:spLocks xmlns:a="http://schemas.openxmlformats.org/drawingml/2006/main" noGrp="1"/>
          </p:cNvSpPr>
          <p:nvPr/>
        </p:nvSpPr>
        <p:spPr>
          <a:xfrm xmlns:a="http://schemas.openxmlformats.org/drawingml/2006/main">
            <a:off x="704850" y="1409700"/>
            <a:ext cx="876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5556C"/>
                </a:solidFill>
              </a:defRPr>
            </a:pPr>
            <a:r>
              <a:rPr sz="1350" b="0">
                <a:solidFill>
                  <a:srgbClr val="45556C"/>
                </a:solidFill>
              </a:rPr>
              <a:t>서버 없이 동작하는 브라우저 기반 구조</a:t>
            </a:r>
          </a:p>
        </p:txBody>
      </p:sp>
      <p:sp>
        <p:nvSpPr>
          <p:cNvPr id="4" name="">
            <a:extLst xmlns:a="http://schemas.openxmlformats.org/drawingml/2006/main">
              <a:ext uri="{FF2B5EF4-FFF2-40B4-BE49-F238E27FC236}">
                <a16:creationId xmlns:a16="http://schemas.microsoft.com/office/drawing/2014/main" id="{5231F41A-3FB4-42E1-95E1-4213FA4D112C}"/>
              </a:ext>
            </a:extLst>
          </p:cNvPr>
          <p:cNvSpPr>
            <a:spLocks xmlns:a="http://schemas.openxmlformats.org/drawingml/2006/main" noGrp="1"/>
          </p:cNvSpPr>
          <p:nvPr/>
        </p:nvSpPr>
        <p:spPr>
          <a:xfrm xmlns:a="http://schemas.openxmlformats.org/drawingml/2006/main">
            <a:off x="685800" y="1866900"/>
            <a:ext cx="1082040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5" name="">
            <a:extLst xmlns:a="http://schemas.openxmlformats.org/drawingml/2006/main">
              <a:ext uri="{FF2B5EF4-FFF2-40B4-BE49-F238E27FC236}">
                <a16:creationId xmlns:a16="http://schemas.microsoft.com/office/drawing/2014/main" id="{89C04B89-ACD7-4723-A21D-5F3E7FCAD5B8}"/>
              </a:ext>
            </a:extLst>
          </p:cNvPr>
          <p:cNvSpPr>
            <a:spLocks xmlns:a="http://schemas.openxmlformats.org/drawingml/2006/main" noGrp="1"/>
          </p:cNvSpPr>
          <p:nvPr/>
        </p:nvSpPr>
        <p:spPr>
          <a:xfrm xmlns:a="http://schemas.openxmlformats.org/drawingml/2006/main">
            <a:off x="685800" y="2266950"/>
            <a:ext cx="4953000" cy="2857500"/>
          </a:xfrm>
          <a:prstGeom xmlns:a="http://schemas.openxmlformats.org/drawingml/2006/main" prst="roundRect">
            <a:avLst>
              <a:gd name="adj" fmla="val 6000"/>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2992C4E4-A343-4877-8159-2E393EE5A595}"/>
              </a:ext>
            </a:extLst>
          </p:cNvPr>
          <p:cNvSpPr>
            <a:spLocks xmlns:a="http://schemas.openxmlformats.org/drawingml/2006/main" noGrp="1"/>
          </p:cNvSpPr>
          <p:nvPr/>
        </p:nvSpPr>
        <p:spPr>
          <a:xfrm xmlns:a="http://schemas.openxmlformats.org/drawingml/2006/main">
            <a:off x="5981700" y="2266950"/>
            <a:ext cx="5524500" cy="2857500"/>
          </a:xfrm>
          <a:prstGeom xmlns:a="http://schemas.openxmlformats.org/drawingml/2006/main" prst="roundRect">
            <a:avLst>
              <a:gd name="adj" fmla="val 6000"/>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5E208658-565F-4586-871F-29895134DE37}"/>
              </a:ext>
            </a:extLst>
          </p:cNvPr>
          <p:cNvSpPr>
            <a:spLocks xmlns:a="http://schemas.openxmlformats.org/drawingml/2006/main" noGrp="1"/>
          </p:cNvSpPr>
          <p:nvPr/>
        </p:nvSpPr>
        <p:spPr>
          <a:xfrm xmlns:a="http://schemas.openxmlformats.org/drawingml/2006/main">
            <a:off x="990600" y="25717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3158D4"/>
                </a:solidFill>
              </a:defRPr>
            </a:pPr>
            <a:r>
              <a:rPr sz="1950" b="1">
                <a:solidFill>
                  <a:srgbClr val="3158D4"/>
                </a:solidFill>
              </a:rPr>
              <a:t>localStorage</a:t>
            </a:r>
          </a:p>
        </p:txBody>
      </p:sp>
      <p:sp>
        <p:nvSpPr>
          <p:cNvPr id="8" name="">
            <a:extLst xmlns:a="http://schemas.openxmlformats.org/drawingml/2006/main">
              <a:ext uri="{FF2B5EF4-FFF2-40B4-BE49-F238E27FC236}">
                <a16:creationId xmlns:a16="http://schemas.microsoft.com/office/drawing/2014/main" id="{DB67FFA9-7FBC-47FE-ABE2-D2B6BDC5637C}"/>
              </a:ext>
            </a:extLst>
          </p:cNvPr>
          <p:cNvSpPr>
            <a:spLocks xmlns:a="http://schemas.openxmlformats.org/drawingml/2006/main" noGrp="1"/>
          </p:cNvSpPr>
          <p:nvPr/>
        </p:nvSpPr>
        <p:spPr>
          <a:xfrm xmlns:a="http://schemas.openxmlformats.org/drawingml/2006/main">
            <a:off x="990600" y="3086100"/>
            <a:ext cx="3429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020618"/>
                </a:solidFill>
              </a:defRPr>
            </a:pPr>
            <a:r>
              <a:rPr sz="1500" b="0">
                <a:solidFill>
                  <a:srgbClr val="020618"/>
                </a:solidFill>
              </a:rPr>
              <a:t>• life-cycle.todos</a:t>
            </a:r>
          </a:p>
          <a:p xmlns:a="http://schemas.openxmlformats.org/drawingml/2006/main">
            <a:pPr algn="l">
              <a:defRPr sz="1500" b="0">
                <a:solidFill>
                  <a:srgbClr val="020618"/>
                </a:solidFill>
              </a:defRPr>
            </a:pPr>
            <a:r>
              <a:rPr sz="1500" b="0">
                <a:solidFill>
                  <a:srgbClr val="020618"/>
                </a:solidFill>
              </a:rPr>
              <a:t>• life-cycle.habits</a:t>
            </a:r>
          </a:p>
          <a:p xmlns:a="http://schemas.openxmlformats.org/drawingml/2006/main">
            <a:pPr algn="l">
              <a:defRPr sz="1500" b="0">
                <a:solidFill>
                  <a:srgbClr val="020618"/>
                </a:solidFill>
              </a:defRPr>
            </a:pPr>
            <a:r>
              <a:rPr sz="1500" b="0">
                <a:solidFill>
                  <a:srgbClr val="020618"/>
                </a:solidFill>
              </a:rPr>
              <a:t>• life-cycle.diaries</a:t>
            </a:r>
          </a:p>
          <a:p xmlns:a="http://schemas.openxmlformats.org/drawingml/2006/main">
            <a:pPr algn="l">
              <a:defRPr sz="1500" b="0">
                <a:solidFill>
                  <a:srgbClr val="020618"/>
                </a:solidFill>
              </a:defRPr>
            </a:pPr>
            <a:r>
              <a:rPr sz="1500" b="0">
                <a:solidFill>
                  <a:srgbClr val="020618"/>
                </a:solidFill>
              </a:rPr>
              <a:t>• life-cycle.events</a:t>
            </a:r>
          </a:p>
        </p:txBody>
      </p:sp>
      <p:sp>
        <p:nvSpPr>
          <p:cNvPr id="9" name="">
            <a:extLst xmlns:a="http://schemas.openxmlformats.org/drawingml/2006/main">
              <a:ext uri="{FF2B5EF4-FFF2-40B4-BE49-F238E27FC236}">
                <a16:creationId xmlns:a16="http://schemas.microsoft.com/office/drawing/2014/main" id="{234AE7E9-E7C6-4CE4-83DB-6B4D4C4120EE}"/>
              </a:ext>
            </a:extLst>
          </p:cNvPr>
          <p:cNvSpPr>
            <a:spLocks xmlns:a="http://schemas.openxmlformats.org/drawingml/2006/main" noGrp="1"/>
          </p:cNvSpPr>
          <p:nvPr/>
        </p:nvSpPr>
        <p:spPr>
          <a:xfrm xmlns:a="http://schemas.openxmlformats.org/drawingml/2006/main">
            <a:off x="6286500" y="25717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3158D4"/>
                </a:solidFill>
              </a:defRPr>
            </a:pPr>
            <a:r>
              <a:rPr sz="1950" b="1">
                <a:solidFill>
                  <a:srgbClr val="3158D4"/>
                </a:solidFill>
              </a:rPr>
              <a:t>API 키 정책</a:t>
            </a:r>
          </a:p>
        </p:txBody>
      </p:sp>
      <p:sp>
        <p:nvSpPr>
          <p:cNvPr id="10" name="">
            <a:extLst xmlns:a="http://schemas.openxmlformats.org/drawingml/2006/main">
              <a:ext uri="{FF2B5EF4-FFF2-40B4-BE49-F238E27FC236}">
                <a16:creationId xmlns:a16="http://schemas.microsoft.com/office/drawing/2014/main" id="{C6358BB7-E37F-4331-B987-9248D58B5232}"/>
              </a:ext>
            </a:extLst>
          </p:cNvPr>
          <p:cNvSpPr>
            <a:spLocks xmlns:a="http://schemas.openxmlformats.org/drawingml/2006/main" noGrp="1"/>
          </p:cNvSpPr>
          <p:nvPr/>
        </p:nvSpPr>
        <p:spPr>
          <a:xfrm xmlns:a="http://schemas.openxmlformats.org/drawingml/2006/main">
            <a:off x="6286500" y="3086100"/>
            <a:ext cx="44767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020618"/>
                </a:solidFill>
              </a:defRPr>
            </a:pPr>
            <a:r>
              <a:rPr sz="1500" b="0">
                <a:solidFill>
                  <a:srgbClr val="020618"/>
                </a:solidFill>
              </a:rPr>
              <a:t>• OpenWeatherMap: 과제용 키 사전 입력</a:t>
            </a:r>
          </a:p>
          <a:p xmlns:a="http://schemas.openxmlformats.org/drawingml/2006/main">
            <a:pPr algn="l">
              <a:defRPr sz="1500" b="0">
                <a:solidFill>
                  <a:srgbClr val="020618"/>
                </a:solidFill>
              </a:defRPr>
            </a:pPr>
            <a:r>
              <a:rPr sz="1500" b="0">
                <a:solidFill>
                  <a:srgbClr val="020618"/>
                </a:solidFill>
              </a:rPr>
              <a:t>• OpenRouter: 사용자가 매번 직접 입력</a:t>
            </a:r>
          </a:p>
          <a:p xmlns:a="http://schemas.openxmlformats.org/drawingml/2006/main">
            <a:pPr algn="l">
              <a:defRPr sz="1500" b="0">
                <a:solidFill>
                  <a:srgbClr val="020618"/>
                </a:solidFill>
              </a:defRPr>
            </a:pPr>
            <a:r>
              <a:rPr sz="1500" b="0">
                <a:solidFill>
                  <a:srgbClr val="020618"/>
                </a:solidFill>
              </a:rPr>
              <a:t>• 입력한 OpenRouter 키는 요청 후 즉시 비움</a:t>
            </a:r>
          </a:p>
          <a:p xmlns:a="http://schemas.openxmlformats.org/drawingml/2006/main">
            <a:pPr algn="l">
              <a:defRPr sz="1500" b="0">
                <a:solidFill>
                  <a:srgbClr val="020618"/>
                </a:solidFill>
              </a:defRPr>
            </a:pPr>
            <a:r>
              <a:rPr sz="1500" b="0">
                <a:solidFill>
                  <a:srgbClr val="020618"/>
                </a:solidFill>
              </a:rPr>
              <a:t>• 모델은 GPT 5.4 nano로 고정</a:t>
            </a:r>
          </a:p>
        </p:txBody>
      </p:sp>
      <p:sp>
        <p:nvSpPr>
          <p:cNvPr id="11" name="">
            <a:extLst xmlns:a="http://schemas.openxmlformats.org/drawingml/2006/main">
              <a:ext uri="{FF2B5EF4-FFF2-40B4-BE49-F238E27FC236}">
                <a16:creationId xmlns:a16="http://schemas.microsoft.com/office/drawing/2014/main" id="{6033DAEE-1E18-4C55-95A9-5DB2DCC5D649}"/>
              </a:ext>
            </a:extLst>
          </p:cNvPr>
          <p:cNvSpPr>
            <a:spLocks xmlns:a="http://schemas.openxmlformats.org/drawingml/2006/main" noGrp="1"/>
          </p:cNvSpPr>
          <p:nvPr/>
        </p:nvSpPr>
        <p:spPr>
          <a:xfrm xmlns:a="http://schemas.openxmlformats.org/drawingml/2006/main">
            <a:off x="8858250" y="6496050"/>
            <a:ext cx="2647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90A1B9"/>
                </a:solidFill>
              </a:defRPr>
            </a:pPr>
            <a:r>
              <a:rPr sz="900" b="0">
                <a:solidFill>
                  <a:srgbClr val="90A1B9"/>
                </a:solidFill>
              </a:rPr>
              <a:t>웹디자인 프로젝트 보고서 | 15</a:t>
            </a:r>
          </a:p>
        </p:txBody>
      </p:sp>
    </p:spTree>
    <p:extLst>
      <p:ext uri="{BB962C8B-B14F-4D97-AF65-F5344CB8AC3E}">
        <p14:creationId xmlns:p14="http://schemas.microsoft.com/office/powerpoint/2010/main" val="921679543"/>
      </p:ext>
    </p:extLst>
  </p:cSld>
</p:sld>
</file>

<file path=ppt/slides/slide1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94F9F65-BD07-4878-8CA3-0F3A32817A8A}"/>
              </a:ext>
            </a:extLst>
          </p:cNvPr>
          <p:cNvSpPr>
            <a:spLocks xmlns:a="http://schemas.openxmlformats.org/drawingml/2006/main" noGrp="1"/>
          </p:cNvSpPr>
          <p:nvPr/>
        </p:nvSpPr>
        <p:spPr>
          <a:xfrm xmlns:a="http://schemas.openxmlformats.org/drawingml/2006/main">
            <a:off x="685800" y="4191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3158D4"/>
                </a:solidFill>
              </a:defRPr>
            </a:pPr>
            <a:r>
              <a:rPr sz="1200" b="1">
                <a:solidFill>
                  <a:srgbClr val="3158D4"/>
                </a:solidFill>
              </a:rPr>
              <a:t>LIFE CYCLE</a:t>
            </a:r>
          </a:p>
        </p:txBody>
      </p:sp>
      <p:sp>
        <p:nvSpPr>
          <p:cNvPr id="2" name="">
            <a:extLst xmlns:a="http://schemas.openxmlformats.org/drawingml/2006/main">
              <a:ext uri="{FF2B5EF4-FFF2-40B4-BE49-F238E27FC236}">
                <a16:creationId xmlns:a16="http://schemas.microsoft.com/office/drawing/2014/main" id="{E4F442C0-46AF-4D2B-B5F6-8FD086432A52}"/>
              </a:ext>
            </a:extLst>
          </p:cNvPr>
          <p:cNvSpPr>
            <a:spLocks xmlns:a="http://schemas.openxmlformats.org/drawingml/2006/main" noGrp="1"/>
          </p:cNvSpPr>
          <p:nvPr/>
        </p:nvSpPr>
        <p:spPr>
          <a:xfrm xmlns:a="http://schemas.openxmlformats.org/drawingml/2006/main">
            <a:off x="685800" y="838200"/>
            <a:ext cx="876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20618"/>
                </a:solidFill>
              </a:defRPr>
            </a:pPr>
            <a:r>
              <a:rPr sz="2850" b="1">
                <a:solidFill>
                  <a:srgbClr val="020618"/>
                </a:solidFill>
              </a:rPr>
              <a:t>AI 활용 요약</a:t>
            </a:r>
          </a:p>
        </p:txBody>
      </p:sp>
      <p:sp>
        <p:nvSpPr>
          <p:cNvPr id="3" name="">
            <a:extLst xmlns:a="http://schemas.openxmlformats.org/drawingml/2006/main">
              <a:ext uri="{FF2B5EF4-FFF2-40B4-BE49-F238E27FC236}">
                <a16:creationId xmlns:a16="http://schemas.microsoft.com/office/drawing/2014/main" id="{76B30523-AEBC-4972-A38C-915CE6D0DAD4}"/>
              </a:ext>
            </a:extLst>
          </p:cNvPr>
          <p:cNvSpPr>
            <a:spLocks xmlns:a="http://schemas.openxmlformats.org/drawingml/2006/main" noGrp="1"/>
          </p:cNvSpPr>
          <p:nvPr/>
        </p:nvSpPr>
        <p:spPr>
          <a:xfrm xmlns:a="http://schemas.openxmlformats.org/drawingml/2006/main">
            <a:off x="704850" y="1409700"/>
            <a:ext cx="876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5556C"/>
                </a:solidFill>
              </a:defRPr>
            </a:pPr>
            <a:r>
              <a:rPr sz="1350" b="0">
                <a:solidFill>
                  <a:srgbClr val="45556C"/>
                </a:solidFill>
              </a:rPr>
              <a:t>과제 조건의 AI 활용 문서화 항목 반영</a:t>
            </a:r>
          </a:p>
        </p:txBody>
      </p:sp>
      <p:sp>
        <p:nvSpPr>
          <p:cNvPr id="4" name="">
            <a:extLst xmlns:a="http://schemas.openxmlformats.org/drawingml/2006/main">
              <a:ext uri="{FF2B5EF4-FFF2-40B4-BE49-F238E27FC236}">
                <a16:creationId xmlns:a16="http://schemas.microsoft.com/office/drawing/2014/main" id="{0F9643E1-0434-49DA-9EA7-52957F3E3BCE}"/>
              </a:ext>
            </a:extLst>
          </p:cNvPr>
          <p:cNvSpPr>
            <a:spLocks xmlns:a="http://schemas.openxmlformats.org/drawingml/2006/main" noGrp="1"/>
          </p:cNvSpPr>
          <p:nvPr/>
        </p:nvSpPr>
        <p:spPr>
          <a:xfrm xmlns:a="http://schemas.openxmlformats.org/drawingml/2006/main">
            <a:off x="685800" y="1866900"/>
            <a:ext cx="1082040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5" name="">
            <a:extLst xmlns:a="http://schemas.openxmlformats.org/drawingml/2006/main">
              <a:ext uri="{FF2B5EF4-FFF2-40B4-BE49-F238E27FC236}">
                <a16:creationId xmlns:a16="http://schemas.microsoft.com/office/drawing/2014/main" id="{002DF042-D1F4-4995-8064-B103BC80D0A0}"/>
              </a:ext>
            </a:extLst>
          </p:cNvPr>
          <p:cNvSpPr>
            <a:spLocks xmlns:a="http://schemas.openxmlformats.org/drawingml/2006/main" noGrp="1"/>
          </p:cNvSpPr>
          <p:nvPr/>
        </p:nvSpPr>
        <p:spPr>
          <a:xfrm xmlns:a="http://schemas.openxmlformats.org/drawingml/2006/main">
            <a:off x="685800" y="2190750"/>
            <a:ext cx="3238500" cy="3238500"/>
          </a:xfrm>
          <a:prstGeom xmlns:a="http://schemas.openxmlformats.org/drawingml/2006/main" prst="roundRect">
            <a:avLst>
              <a:gd name="adj" fmla="val 5294"/>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D45AEABC-54DE-4BB5-AF97-3B073012717E}"/>
              </a:ext>
            </a:extLst>
          </p:cNvPr>
          <p:cNvSpPr>
            <a:spLocks xmlns:a="http://schemas.openxmlformats.org/drawingml/2006/main" noGrp="1"/>
          </p:cNvSpPr>
          <p:nvPr/>
        </p:nvSpPr>
        <p:spPr>
          <a:xfrm xmlns:a="http://schemas.openxmlformats.org/drawingml/2006/main">
            <a:off x="4476750" y="2190750"/>
            <a:ext cx="3238500" cy="3238500"/>
          </a:xfrm>
          <a:prstGeom xmlns:a="http://schemas.openxmlformats.org/drawingml/2006/main" prst="roundRect">
            <a:avLst>
              <a:gd name="adj" fmla="val 5294"/>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1C9BA97E-AB25-48CA-AEDC-7B84924A75FE}"/>
              </a:ext>
            </a:extLst>
          </p:cNvPr>
          <p:cNvSpPr>
            <a:spLocks xmlns:a="http://schemas.openxmlformats.org/drawingml/2006/main" noGrp="1"/>
          </p:cNvSpPr>
          <p:nvPr/>
        </p:nvSpPr>
        <p:spPr>
          <a:xfrm xmlns:a="http://schemas.openxmlformats.org/drawingml/2006/main">
            <a:off x="8267700" y="2190750"/>
            <a:ext cx="3238500" cy="3238500"/>
          </a:xfrm>
          <a:prstGeom xmlns:a="http://schemas.openxmlformats.org/drawingml/2006/main" prst="roundRect">
            <a:avLst>
              <a:gd name="adj" fmla="val 5294"/>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E2EA4A4D-F1C1-4F32-83FF-45B95538039E}"/>
              </a:ext>
            </a:extLst>
          </p:cNvPr>
          <p:cNvSpPr>
            <a:spLocks xmlns:a="http://schemas.openxmlformats.org/drawingml/2006/main" noGrp="1"/>
          </p:cNvSpPr>
          <p:nvPr/>
        </p:nvSpPr>
        <p:spPr>
          <a:xfrm xmlns:a="http://schemas.openxmlformats.org/drawingml/2006/main">
            <a:off x="971550" y="25336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3158D4"/>
                </a:solidFill>
              </a:defRPr>
            </a:pPr>
            <a:r>
              <a:rPr sz="1800" b="1">
                <a:solidFill>
                  <a:srgbClr val="3158D4"/>
                </a:solidFill>
              </a:rPr>
              <a:t>활용한 부분</a:t>
            </a:r>
          </a:p>
        </p:txBody>
      </p:sp>
      <p:sp>
        <p:nvSpPr>
          <p:cNvPr id="9" name="">
            <a:extLst xmlns:a="http://schemas.openxmlformats.org/drawingml/2006/main">
              <a:ext uri="{FF2B5EF4-FFF2-40B4-BE49-F238E27FC236}">
                <a16:creationId xmlns:a16="http://schemas.microsoft.com/office/drawing/2014/main" id="{36E1B52A-0B82-4122-9B5D-4B078F2B8A28}"/>
              </a:ext>
            </a:extLst>
          </p:cNvPr>
          <p:cNvSpPr>
            <a:spLocks xmlns:a="http://schemas.openxmlformats.org/drawingml/2006/main" noGrp="1"/>
          </p:cNvSpPr>
          <p:nvPr/>
        </p:nvSpPr>
        <p:spPr>
          <a:xfrm xmlns:a="http://schemas.openxmlformats.org/drawingml/2006/main">
            <a:off x="971550" y="3009900"/>
            <a:ext cx="2571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20618"/>
                </a:solidFill>
              </a:defRPr>
            </a:pPr>
            <a:r>
              <a:rPr sz="1275" b="0">
                <a:solidFill>
                  <a:srgbClr val="020618"/>
                </a:solidFill>
              </a:rPr>
              <a:t>• 사이트맵을 실제 화면 구조로 해석</a:t>
            </a:r>
          </a:p>
          <a:p xmlns:a="http://schemas.openxmlformats.org/drawingml/2006/main">
            <a:pPr algn="l">
              <a:defRPr sz="1275" b="0">
                <a:solidFill>
                  <a:srgbClr val="020618"/>
                </a:solidFill>
              </a:defRPr>
            </a:pPr>
            <a:r>
              <a:rPr sz="1275" b="0">
                <a:solidFill>
                  <a:srgbClr val="020618"/>
                </a:solidFill>
              </a:rPr>
              <a:t>• 컴포넌트/데이터 흐름 설계</a:t>
            </a:r>
          </a:p>
          <a:p xmlns:a="http://schemas.openxmlformats.org/drawingml/2006/main">
            <a:pPr algn="l">
              <a:defRPr sz="1275" b="0">
                <a:solidFill>
                  <a:srgbClr val="020618"/>
                </a:solidFill>
              </a:defRPr>
            </a:pPr>
            <a:r>
              <a:rPr sz="1275" b="0">
                <a:solidFill>
                  <a:srgbClr val="020618"/>
                </a:solidFill>
              </a:rPr>
              <a:t>• API 키 저장 금지 방식 검토</a:t>
            </a:r>
          </a:p>
          <a:p xmlns:a="http://schemas.openxmlformats.org/drawingml/2006/main">
            <a:pPr algn="l">
              <a:defRPr sz="1275" b="0">
                <a:solidFill>
                  <a:srgbClr val="020618"/>
                </a:solidFill>
              </a:defRPr>
            </a:pPr>
            <a:r>
              <a:rPr sz="1275" b="0">
                <a:solidFill>
                  <a:srgbClr val="020618"/>
                </a:solidFill>
              </a:rPr>
              <a:t>• 반복 UI 수정과 검증</a:t>
            </a:r>
          </a:p>
        </p:txBody>
      </p:sp>
      <p:sp>
        <p:nvSpPr>
          <p:cNvPr id="10" name="">
            <a:extLst xmlns:a="http://schemas.openxmlformats.org/drawingml/2006/main">
              <a:ext uri="{FF2B5EF4-FFF2-40B4-BE49-F238E27FC236}">
                <a16:creationId xmlns:a16="http://schemas.microsoft.com/office/drawing/2014/main" id="{064BE274-1459-4ACD-BF7A-C0E0109283DD}"/>
              </a:ext>
            </a:extLst>
          </p:cNvPr>
          <p:cNvSpPr>
            <a:spLocks xmlns:a="http://schemas.openxmlformats.org/drawingml/2006/main" noGrp="1"/>
          </p:cNvSpPr>
          <p:nvPr/>
        </p:nvSpPr>
        <p:spPr>
          <a:xfrm xmlns:a="http://schemas.openxmlformats.org/drawingml/2006/main">
            <a:off x="4762500" y="25336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3158D4"/>
                </a:solidFill>
              </a:defRPr>
            </a:pPr>
            <a:r>
              <a:rPr sz="1800" b="1">
                <a:solidFill>
                  <a:srgbClr val="3158D4"/>
                </a:solidFill>
              </a:rPr>
              <a:t>채택/수정</a:t>
            </a:r>
          </a:p>
        </p:txBody>
      </p:sp>
      <p:sp>
        <p:nvSpPr>
          <p:cNvPr id="11" name="">
            <a:extLst xmlns:a="http://schemas.openxmlformats.org/drawingml/2006/main">
              <a:ext uri="{FF2B5EF4-FFF2-40B4-BE49-F238E27FC236}">
                <a16:creationId xmlns:a16="http://schemas.microsoft.com/office/drawing/2014/main" id="{8611E3D5-6BEF-4B97-9710-1499C81F9974}"/>
              </a:ext>
            </a:extLst>
          </p:cNvPr>
          <p:cNvSpPr>
            <a:spLocks xmlns:a="http://schemas.openxmlformats.org/drawingml/2006/main" noGrp="1"/>
          </p:cNvSpPr>
          <p:nvPr/>
        </p:nvSpPr>
        <p:spPr>
          <a:xfrm xmlns:a="http://schemas.openxmlformats.org/drawingml/2006/main">
            <a:off x="4762500" y="3009900"/>
            <a:ext cx="2571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20618"/>
                </a:solidFill>
              </a:defRPr>
            </a:pPr>
            <a:r>
              <a:rPr sz="1275" b="0">
                <a:solidFill>
                  <a:srgbClr val="020618"/>
                </a:solidFill>
              </a:rPr>
              <a:t>• 사이트맵 우선 구현 채택</a:t>
            </a:r>
          </a:p>
          <a:p xmlns:a="http://schemas.openxmlformats.org/drawingml/2006/main">
            <a:pPr algn="l">
              <a:defRPr sz="1275" b="0">
                <a:solidFill>
                  <a:srgbClr val="020618"/>
                </a:solidFill>
              </a:defRPr>
            </a:pPr>
            <a:r>
              <a:rPr sz="1275" b="0">
                <a:solidFill>
                  <a:srgbClr val="020618"/>
                </a:solidFill>
              </a:rPr>
              <a:t>• localStorage 저장 채택</a:t>
            </a:r>
          </a:p>
          <a:p xmlns:a="http://schemas.openxmlformats.org/drawingml/2006/main">
            <a:pPr algn="l">
              <a:defRPr sz="1275" b="0">
                <a:solidFill>
                  <a:srgbClr val="020618"/>
                </a:solidFill>
              </a:defRPr>
            </a:pPr>
            <a:r>
              <a:rPr sz="1275" b="0">
                <a:solidFill>
                  <a:srgbClr val="020618"/>
                </a:solidFill>
              </a:rPr>
              <a:t>• API 키 localStorage 저장 제안은 거부</a:t>
            </a:r>
          </a:p>
          <a:p xmlns:a="http://schemas.openxmlformats.org/drawingml/2006/main">
            <a:pPr algn="l">
              <a:defRPr sz="1275" b="0">
                <a:solidFill>
                  <a:srgbClr val="020618"/>
                </a:solidFill>
              </a:defRPr>
            </a:pPr>
            <a:r>
              <a:rPr sz="1275" b="0">
                <a:solidFill>
                  <a:srgbClr val="020618"/>
                </a:solidFill>
              </a:rPr>
              <a:t>• 모바일 대응은 과제 범위에서 제외</a:t>
            </a:r>
          </a:p>
        </p:txBody>
      </p:sp>
      <p:sp>
        <p:nvSpPr>
          <p:cNvPr id="12" name="">
            <a:extLst xmlns:a="http://schemas.openxmlformats.org/drawingml/2006/main">
              <a:ext uri="{FF2B5EF4-FFF2-40B4-BE49-F238E27FC236}">
                <a16:creationId xmlns:a16="http://schemas.microsoft.com/office/drawing/2014/main" id="{D32487E7-96FB-42B9-AAC2-D09A45BD17D0}"/>
              </a:ext>
            </a:extLst>
          </p:cNvPr>
          <p:cNvSpPr>
            <a:spLocks xmlns:a="http://schemas.openxmlformats.org/drawingml/2006/main" noGrp="1"/>
          </p:cNvSpPr>
          <p:nvPr/>
        </p:nvSpPr>
        <p:spPr>
          <a:xfrm xmlns:a="http://schemas.openxmlformats.org/drawingml/2006/main">
            <a:off x="8553450" y="25336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3158D4"/>
                </a:solidFill>
              </a:defRPr>
            </a:pPr>
            <a:r>
              <a:rPr sz="1800" b="1">
                <a:solidFill>
                  <a:srgbClr val="3158D4"/>
                </a:solidFill>
              </a:rPr>
              <a:t>배운 점</a:t>
            </a:r>
          </a:p>
        </p:txBody>
      </p:sp>
      <p:sp>
        <p:nvSpPr>
          <p:cNvPr id="13" name="">
            <a:extLst xmlns:a="http://schemas.openxmlformats.org/drawingml/2006/main">
              <a:ext uri="{FF2B5EF4-FFF2-40B4-BE49-F238E27FC236}">
                <a16:creationId xmlns:a16="http://schemas.microsoft.com/office/drawing/2014/main" id="{DFE0C79F-A22B-48D8-85FD-88F5E26F6227}"/>
              </a:ext>
            </a:extLst>
          </p:cNvPr>
          <p:cNvSpPr>
            <a:spLocks xmlns:a="http://schemas.openxmlformats.org/drawingml/2006/main" noGrp="1"/>
          </p:cNvSpPr>
          <p:nvPr/>
        </p:nvSpPr>
        <p:spPr>
          <a:xfrm xmlns:a="http://schemas.openxmlformats.org/drawingml/2006/main">
            <a:off x="8553450" y="3009900"/>
            <a:ext cx="2571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20618"/>
                </a:solidFill>
              </a:defRPr>
            </a:pPr>
            <a:r>
              <a:rPr sz="1275" b="0">
                <a:solidFill>
                  <a:srgbClr val="020618"/>
                </a:solidFill>
              </a:rPr>
              <a:t>• AI 답변을 그대로 쓰지 않고 과제 조건에 맞게 선별</a:t>
            </a:r>
          </a:p>
          <a:p xmlns:a="http://schemas.openxmlformats.org/drawingml/2006/main">
            <a:pPr algn="l">
              <a:defRPr sz="1275" b="0">
                <a:solidFill>
                  <a:srgbClr val="020618"/>
                </a:solidFill>
              </a:defRPr>
            </a:pPr>
            <a:r>
              <a:rPr sz="1275" b="0">
                <a:solidFill>
                  <a:srgbClr val="020618"/>
                </a:solidFill>
              </a:rPr>
              <a:t>• UI 수정은 실제 브라우저 좌표로 검증</a:t>
            </a:r>
          </a:p>
          <a:p xmlns:a="http://schemas.openxmlformats.org/drawingml/2006/main">
            <a:pPr algn="l">
              <a:defRPr sz="1275" b="0">
                <a:solidFill>
                  <a:srgbClr val="020618"/>
                </a:solidFill>
              </a:defRPr>
            </a:pPr>
            <a:r>
              <a:rPr sz="1275" b="0">
                <a:solidFill>
                  <a:srgbClr val="020618"/>
                </a:solidFill>
              </a:rPr>
              <a:t>• 보안과 사용자 입력 흐름을 함께 고려</a:t>
            </a:r>
          </a:p>
        </p:txBody>
      </p:sp>
      <p:sp>
        <p:nvSpPr>
          <p:cNvPr id="14" name="">
            <a:extLst xmlns:a="http://schemas.openxmlformats.org/drawingml/2006/main">
              <a:ext uri="{FF2B5EF4-FFF2-40B4-BE49-F238E27FC236}">
                <a16:creationId xmlns:a16="http://schemas.microsoft.com/office/drawing/2014/main" id="{B5671600-A778-44AE-A9A3-8D5EF7968F8A}"/>
              </a:ext>
            </a:extLst>
          </p:cNvPr>
          <p:cNvSpPr>
            <a:spLocks xmlns:a="http://schemas.openxmlformats.org/drawingml/2006/main" noGrp="1"/>
          </p:cNvSpPr>
          <p:nvPr/>
        </p:nvSpPr>
        <p:spPr>
          <a:xfrm xmlns:a="http://schemas.openxmlformats.org/drawingml/2006/main">
            <a:off x="8858250" y="6496050"/>
            <a:ext cx="2647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90A1B9"/>
                </a:solidFill>
              </a:defRPr>
            </a:pPr>
            <a:r>
              <a:rPr sz="900" b="0">
                <a:solidFill>
                  <a:srgbClr val="90A1B9"/>
                </a:solidFill>
              </a:rPr>
              <a:t>웹디자인 프로젝트 보고서 | 16</a:t>
            </a:r>
          </a:p>
        </p:txBody>
      </p:sp>
    </p:spTree>
    <p:extLst>
      <p:ext uri="{BB962C8B-B14F-4D97-AF65-F5344CB8AC3E}">
        <p14:creationId xmlns:p14="http://schemas.microsoft.com/office/powerpoint/2010/main" val="783160882"/>
      </p:ext>
    </p:extLst>
  </p:cSld>
</p:sld>
</file>

<file path=ppt/slides/slide1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5DA046B-0D01-477B-A50E-E6134D018D69}"/>
              </a:ext>
            </a:extLst>
          </p:cNvPr>
          <p:cNvSpPr>
            <a:spLocks xmlns:a="http://schemas.openxmlformats.org/drawingml/2006/main" noGrp="1"/>
          </p:cNvSpPr>
          <p:nvPr/>
        </p:nvSpPr>
        <p:spPr>
          <a:xfrm xmlns:a="http://schemas.openxmlformats.org/drawingml/2006/main">
            <a:off x="685800" y="4191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3158D4"/>
                </a:solidFill>
              </a:defRPr>
            </a:pPr>
            <a:r>
              <a:rPr sz="1200" b="1">
                <a:solidFill>
                  <a:srgbClr val="3158D4"/>
                </a:solidFill>
              </a:rPr>
              <a:t>LIFE CYCLE</a:t>
            </a:r>
          </a:p>
        </p:txBody>
      </p:sp>
      <p:sp>
        <p:nvSpPr>
          <p:cNvPr id="2" name="">
            <a:extLst xmlns:a="http://schemas.openxmlformats.org/drawingml/2006/main">
              <a:ext uri="{FF2B5EF4-FFF2-40B4-BE49-F238E27FC236}">
                <a16:creationId xmlns:a16="http://schemas.microsoft.com/office/drawing/2014/main" id="{127D2529-59DF-45F3-994D-F3A315CA627D}"/>
              </a:ext>
            </a:extLst>
          </p:cNvPr>
          <p:cNvSpPr>
            <a:spLocks xmlns:a="http://schemas.openxmlformats.org/drawingml/2006/main" noGrp="1"/>
          </p:cNvSpPr>
          <p:nvPr/>
        </p:nvSpPr>
        <p:spPr>
          <a:xfrm xmlns:a="http://schemas.openxmlformats.org/drawingml/2006/main">
            <a:off x="685800" y="838200"/>
            <a:ext cx="876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20618"/>
                </a:solidFill>
              </a:defRPr>
            </a:pPr>
            <a:r>
              <a:rPr sz="2850" b="1">
                <a:solidFill>
                  <a:srgbClr val="020618"/>
                </a:solidFill>
              </a:rPr>
              <a:t>테스트 및 수정</a:t>
            </a:r>
          </a:p>
        </p:txBody>
      </p:sp>
      <p:sp>
        <p:nvSpPr>
          <p:cNvPr id="3" name="">
            <a:extLst xmlns:a="http://schemas.openxmlformats.org/drawingml/2006/main">
              <a:ext uri="{FF2B5EF4-FFF2-40B4-BE49-F238E27FC236}">
                <a16:creationId xmlns:a16="http://schemas.microsoft.com/office/drawing/2014/main" id="{47D1D42D-A50A-4AE3-970B-2287816229BA}"/>
              </a:ext>
            </a:extLst>
          </p:cNvPr>
          <p:cNvSpPr>
            <a:spLocks xmlns:a="http://schemas.openxmlformats.org/drawingml/2006/main" noGrp="1"/>
          </p:cNvSpPr>
          <p:nvPr/>
        </p:nvSpPr>
        <p:spPr>
          <a:xfrm xmlns:a="http://schemas.openxmlformats.org/drawingml/2006/main">
            <a:off x="704850" y="1409700"/>
            <a:ext cx="876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5556C"/>
                </a:solidFill>
              </a:defRPr>
            </a:pPr>
            <a:r>
              <a:rPr sz="1350" b="0">
                <a:solidFill>
                  <a:srgbClr val="45556C"/>
                </a:solidFill>
              </a:rPr>
              <a:t>최종 화면에서 반복 확인한 항목</a:t>
            </a:r>
          </a:p>
        </p:txBody>
      </p:sp>
      <p:sp>
        <p:nvSpPr>
          <p:cNvPr id="4" name="">
            <a:extLst xmlns:a="http://schemas.openxmlformats.org/drawingml/2006/main">
              <a:ext uri="{FF2B5EF4-FFF2-40B4-BE49-F238E27FC236}">
                <a16:creationId xmlns:a16="http://schemas.microsoft.com/office/drawing/2014/main" id="{2FA4D252-ADD4-4E88-91BC-6D23B9B49625}"/>
              </a:ext>
            </a:extLst>
          </p:cNvPr>
          <p:cNvSpPr>
            <a:spLocks xmlns:a="http://schemas.openxmlformats.org/drawingml/2006/main" noGrp="1"/>
          </p:cNvSpPr>
          <p:nvPr/>
        </p:nvSpPr>
        <p:spPr>
          <a:xfrm xmlns:a="http://schemas.openxmlformats.org/drawingml/2006/main">
            <a:off x="685800" y="1866900"/>
            <a:ext cx="1082040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5" name="">
            <a:extLst xmlns:a="http://schemas.openxmlformats.org/drawingml/2006/main">
              <a:ext uri="{FF2B5EF4-FFF2-40B4-BE49-F238E27FC236}">
                <a16:creationId xmlns:a16="http://schemas.microsoft.com/office/drawing/2014/main" id="{345A9B80-4408-4FB1-8D58-2542F3199CE8}"/>
              </a:ext>
            </a:extLst>
          </p:cNvPr>
          <p:cNvSpPr>
            <a:spLocks xmlns:a="http://schemas.openxmlformats.org/drawingml/2006/main" noGrp="1"/>
          </p:cNvSpPr>
          <p:nvPr/>
        </p:nvSpPr>
        <p:spPr>
          <a:xfrm xmlns:a="http://schemas.openxmlformats.org/drawingml/2006/main">
            <a:off x="685800" y="2286000"/>
            <a:ext cx="10820400" cy="314325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F927E019-72BD-4CCF-9F64-ED29E4327A31}"/>
              </a:ext>
            </a:extLst>
          </p:cNvPr>
          <p:cNvSpPr>
            <a:spLocks xmlns:a="http://schemas.openxmlformats.org/drawingml/2006/main" noGrp="1"/>
          </p:cNvSpPr>
          <p:nvPr/>
        </p:nvSpPr>
        <p:spPr>
          <a:xfrm xmlns:a="http://schemas.openxmlformats.org/drawingml/2006/main">
            <a:off x="1066800" y="26289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3158D4"/>
                </a:solidFill>
              </a:defRPr>
            </a:pPr>
            <a:r>
              <a:rPr sz="1500" b="1">
                <a:solidFill>
                  <a:srgbClr val="3158D4"/>
                </a:solidFill>
              </a:rPr>
              <a:t>레이아웃</a:t>
            </a:r>
          </a:p>
        </p:txBody>
      </p:sp>
      <p:sp>
        <p:nvSpPr>
          <p:cNvPr id="7" name="">
            <a:extLst xmlns:a="http://schemas.openxmlformats.org/drawingml/2006/main">
              <a:ext uri="{FF2B5EF4-FFF2-40B4-BE49-F238E27FC236}">
                <a16:creationId xmlns:a16="http://schemas.microsoft.com/office/drawing/2014/main" id="{F95E4099-C166-4796-8DC4-58DAD4394FCF}"/>
              </a:ext>
            </a:extLst>
          </p:cNvPr>
          <p:cNvSpPr>
            <a:spLocks xmlns:a="http://schemas.openxmlformats.org/drawingml/2006/main" noGrp="1"/>
          </p:cNvSpPr>
          <p:nvPr/>
        </p:nvSpPr>
        <p:spPr>
          <a:xfrm xmlns:a="http://schemas.openxmlformats.org/drawingml/2006/main">
            <a:off x="2476500" y="26289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020618"/>
                </a:solidFill>
              </a:defRPr>
            </a:pPr>
            <a:r>
              <a:rPr sz="1425" b="0">
                <a:solidFill>
                  <a:srgbClr val="020618"/>
                </a:solidFill>
              </a:rPr>
              <a:t>메인 캘린더 높이, 하단 2분할 비율, 페이지별 우측 정렬 점검</a:t>
            </a:r>
          </a:p>
        </p:txBody>
      </p:sp>
      <p:sp>
        <p:nvSpPr>
          <p:cNvPr id="8" name="">
            <a:extLst xmlns:a="http://schemas.openxmlformats.org/drawingml/2006/main">
              <a:ext uri="{FF2B5EF4-FFF2-40B4-BE49-F238E27FC236}">
                <a16:creationId xmlns:a16="http://schemas.microsoft.com/office/drawing/2014/main" id="{754AF4C1-20B3-4469-BAEB-25DF0C2C043D}"/>
              </a:ext>
            </a:extLst>
          </p:cNvPr>
          <p:cNvSpPr>
            <a:spLocks xmlns:a="http://schemas.openxmlformats.org/drawingml/2006/main" noGrp="1"/>
          </p:cNvSpPr>
          <p:nvPr/>
        </p:nvSpPr>
        <p:spPr>
          <a:xfrm xmlns:a="http://schemas.openxmlformats.org/drawingml/2006/main">
            <a:off x="1066800" y="31432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3158D4"/>
                </a:solidFill>
              </a:defRPr>
            </a:pPr>
            <a:r>
              <a:rPr sz="1500" b="1">
                <a:solidFill>
                  <a:srgbClr val="3158D4"/>
                </a:solidFill>
              </a:rPr>
              <a:t>데이터</a:t>
            </a:r>
          </a:p>
        </p:txBody>
      </p:sp>
      <p:sp>
        <p:nvSpPr>
          <p:cNvPr id="9" name="">
            <a:extLst xmlns:a="http://schemas.openxmlformats.org/drawingml/2006/main">
              <a:ext uri="{FF2B5EF4-FFF2-40B4-BE49-F238E27FC236}">
                <a16:creationId xmlns:a16="http://schemas.microsoft.com/office/drawing/2014/main" id="{EF7AE292-24E2-4244-8FFC-402F0EA20AFC}"/>
              </a:ext>
            </a:extLst>
          </p:cNvPr>
          <p:cNvSpPr>
            <a:spLocks xmlns:a="http://schemas.openxmlformats.org/drawingml/2006/main" noGrp="1"/>
          </p:cNvSpPr>
          <p:nvPr/>
        </p:nvSpPr>
        <p:spPr>
          <a:xfrm xmlns:a="http://schemas.openxmlformats.org/drawingml/2006/main">
            <a:off x="2476500" y="314325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020618"/>
                </a:solidFill>
              </a:defRPr>
            </a:pPr>
            <a:r>
              <a:rPr sz="1425" b="0">
                <a:solidFill>
                  <a:srgbClr val="020618"/>
                </a:solidFill>
              </a:rPr>
              <a:t>TODO 완료/미완료 정렬, 캘린더 점 표시, 일기 날짜 이동 저장 확인</a:t>
            </a:r>
          </a:p>
        </p:txBody>
      </p:sp>
      <p:sp>
        <p:nvSpPr>
          <p:cNvPr id="10" name="">
            <a:extLst xmlns:a="http://schemas.openxmlformats.org/drawingml/2006/main">
              <a:ext uri="{FF2B5EF4-FFF2-40B4-BE49-F238E27FC236}">
                <a16:creationId xmlns:a16="http://schemas.microsoft.com/office/drawing/2014/main" id="{0CD140E2-0192-4A45-A964-3A9CFF974680}"/>
              </a:ext>
            </a:extLst>
          </p:cNvPr>
          <p:cNvSpPr>
            <a:spLocks xmlns:a="http://schemas.openxmlformats.org/drawingml/2006/main" noGrp="1"/>
          </p:cNvSpPr>
          <p:nvPr/>
        </p:nvSpPr>
        <p:spPr>
          <a:xfrm xmlns:a="http://schemas.openxmlformats.org/drawingml/2006/main">
            <a:off x="1066800" y="36576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3158D4"/>
                </a:solidFill>
              </a:defRPr>
            </a:pPr>
            <a:r>
              <a:rPr sz="1500" b="1">
                <a:solidFill>
                  <a:srgbClr val="3158D4"/>
                </a:solidFill>
              </a:rPr>
              <a:t>AI</a:t>
            </a:r>
          </a:p>
        </p:txBody>
      </p:sp>
      <p:sp>
        <p:nvSpPr>
          <p:cNvPr id="11" name="">
            <a:extLst xmlns:a="http://schemas.openxmlformats.org/drawingml/2006/main">
              <a:ext uri="{FF2B5EF4-FFF2-40B4-BE49-F238E27FC236}">
                <a16:creationId xmlns:a16="http://schemas.microsoft.com/office/drawing/2014/main" id="{C478688A-B0B0-4D17-BB39-F75F9198A12E}"/>
              </a:ext>
            </a:extLst>
          </p:cNvPr>
          <p:cNvSpPr>
            <a:spLocks xmlns:a="http://schemas.openxmlformats.org/drawingml/2006/main" noGrp="1"/>
          </p:cNvSpPr>
          <p:nvPr/>
        </p:nvSpPr>
        <p:spPr>
          <a:xfrm xmlns:a="http://schemas.openxmlformats.org/drawingml/2006/main">
            <a:off x="2476500" y="36576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020618"/>
                </a:solidFill>
              </a:defRPr>
            </a:pPr>
            <a:r>
              <a:rPr sz="1425" b="0">
                <a:solidFill>
                  <a:srgbClr val="020618"/>
                </a:solidFill>
              </a:rPr>
              <a:t>지역이 없어도 브리핑 가능, 일정 질문, 시간순 브리핑 대상 표시</a:t>
            </a:r>
          </a:p>
        </p:txBody>
      </p:sp>
      <p:sp>
        <p:nvSpPr>
          <p:cNvPr id="12" name="">
            <a:extLst xmlns:a="http://schemas.openxmlformats.org/drawingml/2006/main">
              <a:ext uri="{FF2B5EF4-FFF2-40B4-BE49-F238E27FC236}">
                <a16:creationId xmlns:a16="http://schemas.microsoft.com/office/drawing/2014/main" id="{17C205AE-5374-4B72-8F7F-441D67F674CA}"/>
              </a:ext>
            </a:extLst>
          </p:cNvPr>
          <p:cNvSpPr>
            <a:spLocks xmlns:a="http://schemas.openxmlformats.org/drawingml/2006/main" noGrp="1"/>
          </p:cNvSpPr>
          <p:nvPr/>
        </p:nvSpPr>
        <p:spPr>
          <a:xfrm xmlns:a="http://schemas.openxmlformats.org/drawingml/2006/main">
            <a:off x="1066800" y="41719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3158D4"/>
                </a:solidFill>
              </a:defRPr>
            </a:pPr>
            <a:r>
              <a:rPr sz="1500" b="1">
                <a:solidFill>
                  <a:srgbClr val="3158D4"/>
                </a:solidFill>
              </a:rPr>
              <a:t>보안</a:t>
            </a:r>
          </a:p>
        </p:txBody>
      </p:sp>
      <p:sp>
        <p:nvSpPr>
          <p:cNvPr id="13" name="">
            <a:extLst xmlns:a="http://schemas.openxmlformats.org/drawingml/2006/main">
              <a:ext uri="{FF2B5EF4-FFF2-40B4-BE49-F238E27FC236}">
                <a16:creationId xmlns:a16="http://schemas.microsoft.com/office/drawing/2014/main" id="{8FB0E038-5E3B-4999-88CD-D8EE3DE52487}"/>
              </a:ext>
            </a:extLst>
          </p:cNvPr>
          <p:cNvSpPr>
            <a:spLocks xmlns:a="http://schemas.openxmlformats.org/drawingml/2006/main" noGrp="1"/>
          </p:cNvSpPr>
          <p:nvPr/>
        </p:nvSpPr>
        <p:spPr>
          <a:xfrm xmlns:a="http://schemas.openxmlformats.org/drawingml/2006/main">
            <a:off x="2476500" y="417195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020618"/>
                </a:solidFill>
              </a:defRPr>
            </a:pPr>
            <a:r>
              <a:rPr sz="1425" b="0">
                <a:solidFill>
                  <a:srgbClr val="020618"/>
                </a:solidFill>
              </a:rPr>
              <a:t>OpenRouter API 키는 localStorage에 저장하지 않음</a:t>
            </a:r>
          </a:p>
        </p:txBody>
      </p:sp>
      <p:sp>
        <p:nvSpPr>
          <p:cNvPr id="14" name="">
            <a:extLst xmlns:a="http://schemas.openxmlformats.org/drawingml/2006/main">
              <a:ext uri="{FF2B5EF4-FFF2-40B4-BE49-F238E27FC236}">
                <a16:creationId xmlns:a16="http://schemas.microsoft.com/office/drawing/2014/main" id="{7F0CA9C8-F669-45E6-B703-1F83BBEE5D9E}"/>
              </a:ext>
            </a:extLst>
          </p:cNvPr>
          <p:cNvSpPr>
            <a:spLocks xmlns:a="http://schemas.openxmlformats.org/drawingml/2006/main" noGrp="1"/>
          </p:cNvSpPr>
          <p:nvPr/>
        </p:nvSpPr>
        <p:spPr>
          <a:xfrm xmlns:a="http://schemas.openxmlformats.org/drawingml/2006/main">
            <a:off x="1066800" y="46863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3158D4"/>
                </a:solidFill>
              </a:defRPr>
            </a:pPr>
            <a:r>
              <a:rPr sz="1500" b="1">
                <a:solidFill>
                  <a:srgbClr val="3158D4"/>
                </a:solidFill>
              </a:rPr>
              <a:t>검증</a:t>
            </a:r>
          </a:p>
        </p:txBody>
      </p:sp>
      <p:sp>
        <p:nvSpPr>
          <p:cNvPr id="15" name="">
            <a:extLst xmlns:a="http://schemas.openxmlformats.org/drawingml/2006/main">
              <a:ext uri="{FF2B5EF4-FFF2-40B4-BE49-F238E27FC236}">
                <a16:creationId xmlns:a16="http://schemas.microsoft.com/office/drawing/2014/main" id="{9228D017-C433-43F2-8E30-2FEAAF850178}"/>
              </a:ext>
            </a:extLst>
          </p:cNvPr>
          <p:cNvSpPr>
            <a:spLocks xmlns:a="http://schemas.openxmlformats.org/drawingml/2006/main" noGrp="1"/>
          </p:cNvSpPr>
          <p:nvPr/>
        </p:nvSpPr>
        <p:spPr>
          <a:xfrm xmlns:a="http://schemas.openxmlformats.org/drawingml/2006/main">
            <a:off x="2476500" y="4686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020618"/>
                </a:solidFill>
              </a:defRPr>
            </a:pPr>
            <a:r>
              <a:rPr sz="1425" b="0">
                <a:solidFill>
                  <a:srgbClr val="020618"/>
                </a:solidFill>
              </a:rPr>
              <a:t>로컬 Chrome으로 버튼 좌표, 목록 순서, 모달 저장 동작 확인</a:t>
            </a:r>
          </a:p>
        </p:txBody>
      </p:sp>
      <p:sp>
        <p:nvSpPr>
          <p:cNvPr id="16" name="">
            <a:extLst xmlns:a="http://schemas.openxmlformats.org/drawingml/2006/main">
              <a:ext uri="{FF2B5EF4-FFF2-40B4-BE49-F238E27FC236}">
                <a16:creationId xmlns:a16="http://schemas.microsoft.com/office/drawing/2014/main" id="{692B056C-FC17-4353-83BA-3FFAB0B84EA6}"/>
              </a:ext>
            </a:extLst>
          </p:cNvPr>
          <p:cNvSpPr>
            <a:spLocks xmlns:a="http://schemas.openxmlformats.org/drawingml/2006/main" noGrp="1"/>
          </p:cNvSpPr>
          <p:nvPr/>
        </p:nvSpPr>
        <p:spPr>
          <a:xfrm xmlns:a="http://schemas.openxmlformats.org/drawingml/2006/main">
            <a:off x="8858250" y="6496050"/>
            <a:ext cx="2647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90A1B9"/>
                </a:solidFill>
              </a:defRPr>
            </a:pPr>
            <a:r>
              <a:rPr sz="900" b="0">
                <a:solidFill>
                  <a:srgbClr val="90A1B9"/>
                </a:solidFill>
              </a:rPr>
              <a:t>웹디자인 프로젝트 보고서 | 17</a:t>
            </a:r>
          </a:p>
        </p:txBody>
      </p:sp>
    </p:spTree>
    <p:extLst>
      <p:ext uri="{BB962C8B-B14F-4D97-AF65-F5344CB8AC3E}">
        <p14:creationId xmlns:p14="http://schemas.microsoft.com/office/powerpoint/2010/main" val="1929930839"/>
      </p:ext>
    </p:extLst>
  </p:cSld>
</p:sld>
</file>

<file path=ppt/slides/slide1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352F9A6-FB66-4685-8E08-7342C1A32A2D}"/>
              </a:ext>
            </a:extLst>
          </p:cNvPr>
          <p:cNvSpPr>
            <a:spLocks xmlns:a="http://schemas.openxmlformats.org/drawingml/2006/main" noGrp="1"/>
          </p:cNvSpPr>
          <p:nvPr/>
        </p:nvSpPr>
        <p:spPr>
          <a:xfrm xmlns:a="http://schemas.openxmlformats.org/drawingml/2006/main">
            <a:off x="685800" y="4191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3158D4"/>
                </a:solidFill>
              </a:defRPr>
            </a:pPr>
            <a:r>
              <a:rPr sz="1200" b="1">
                <a:solidFill>
                  <a:srgbClr val="3158D4"/>
                </a:solidFill>
              </a:rPr>
              <a:t>LIFE CYCLE</a:t>
            </a:r>
          </a:p>
        </p:txBody>
      </p:sp>
      <p:sp>
        <p:nvSpPr>
          <p:cNvPr id="2" name="">
            <a:extLst xmlns:a="http://schemas.openxmlformats.org/drawingml/2006/main">
              <a:ext uri="{FF2B5EF4-FFF2-40B4-BE49-F238E27FC236}">
                <a16:creationId xmlns:a16="http://schemas.microsoft.com/office/drawing/2014/main" id="{3A454394-5443-4DBE-8255-4B29435490F9}"/>
              </a:ext>
            </a:extLst>
          </p:cNvPr>
          <p:cNvSpPr>
            <a:spLocks xmlns:a="http://schemas.openxmlformats.org/drawingml/2006/main" noGrp="1"/>
          </p:cNvSpPr>
          <p:nvPr/>
        </p:nvSpPr>
        <p:spPr>
          <a:xfrm xmlns:a="http://schemas.openxmlformats.org/drawingml/2006/main">
            <a:off x="685800" y="838200"/>
            <a:ext cx="876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20618"/>
                </a:solidFill>
              </a:defRPr>
            </a:pPr>
            <a:r>
              <a:rPr sz="2850" b="1">
                <a:solidFill>
                  <a:srgbClr val="020618"/>
                </a:solidFill>
              </a:rPr>
              <a:t>수업 및 프로젝트 수행 소감</a:t>
            </a:r>
          </a:p>
        </p:txBody>
      </p:sp>
      <p:sp>
        <p:nvSpPr>
          <p:cNvPr id="3" name="">
            <a:extLst xmlns:a="http://schemas.openxmlformats.org/drawingml/2006/main">
              <a:ext uri="{FF2B5EF4-FFF2-40B4-BE49-F238E27FC236}">
                <a16:creationId xmlns:a16="http://schemas.microsoft.com/office/drawing/2014/main" id="{4D082317-24DD-4070-A509-2E0647DA05AF}"/>
              </a:ext>
            </a:extLst>
          </p:cNvPr>
          <p:cNvSpPr>
            <a:spLocks xmlns:a="http://schemas.openxmlformats.org/drawingml/2006/main" noGrp="1"/>
          </p:cNvSpPr>
          <p:nvPr/>
        </p:nvSpPr>
        <p:spPr>
          <a:xfrm xmlns:a="http://schemas.openxmlformats.org/drawingml/2006/main">
            <a:off x="704850" y="1409700"/>
            <a:ext cx="876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5556C"/>
                </a:solidFill>
              </a:defRPr>
            </a:pPr>
            <a:r>
              <a:rPr sz="1350" b="0">
                <a:solidFill>
                  <a:srgbClr val="45556C"/>
                </a:solidFill>
              </a:rPr>
              <a:t>사용자 중심으로 화면을 조정하며 배운 점</a:t>
            </a:r>
          </a:p>
        </p:txBody>
      </p:sp>
      <p:sp>
        <p:nvSpPr>
          <p:cNvPr id="4" name="">
            <a:extLst xmlns:a="http://schemas.openxmlformats.org/drawingml/2006/main">
              <a:ext uri="{FF2B5EF4-FFF2-40B4-BE49-F238E27FC236}">
                <a16:creationId xmlns:a16="http://schemas.microsoft.com/office/drawing/2014/main" id="{861C4A22-2350-4CF8-88AA-A7ACC0F41D4C}"/>
              </a:ext>
            </a:extLst>
          </p:cNvPr>
          <p:cNvSpPr>
            <a:spLocks xmlns:a="http://schemas.openxmlformats.org/drawingml/2006/main" noGrp="1"/>
          </p:cNvSpPr>
          <p:nvPr/>
        </p:nvSpPr>
        <p:spPr>
          <a:xfrm xmlns:a="http://schemas.openxmlformats.org/drawingml/2006/main">
            <a:off x="685800" y="1866900"/>
            <a:ext cx="1082040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5" name="">
            <a:extLst xmlns:a="http://schemas.openxmlformats.org/drawingml/2006/main">
              <a:ext uri="{FF2B5EF4-FFF2-40B4-BE49-F238E27FC236}">
                <a16:creationId xmlns:a16="http://schemas.microsoft.com/office/drawing/2014/main" id="{BFDD538D-AB19-449A-AA8E-7BAD8F396333}"/>
              </a:ext>
            </a:extLst>
          </p:cNvPr>
          <p:cNvSpPr>
            <a:spLocks xmlns:a="http://schemas.openxmlformats.org/drawingml/2006/main" noGrp="1"/>
          </p:cNvSpPr>
          <p:nvPr/>
        </p:nvSpPr>
        <p:spPr>
          <a:xfrm xmlns:a="http://schemas.openxmlformats.org/drawingml/2006/main">
            <a:off x="1047750" y="2238375"/>
            <a:ext cx="10096500" cy="314325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0A14C3B5-DBB2-4802-B2D3-95CE2BF5448C}"/>
              </a:ext>
            </a:extLst>
          </p:cNvPr>
          <p:cNvSpPr>
            <a:spLocks xmlns:a="http://schemas.openxmlformats.org/drawingml/2006/main" noGrp="1"/>
          </p:cNvSpPr>
          <p:nvPr/>
        </p:nvSpPr>
        <p:spPr>
          <a:xfrm xmlns:a="http://schemas.openxmlformats.org/drawingml/2006/main">
            <a:off x="1428750" y="2628900"/>
            <a:ext cx="9334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020618"/>
                </a:solidFill>
              </a:defRPr>
            </a:pPr>
            <a:r>
              <a:rPr sz="1575" b="0">
                <a:solidFill>
                  <a:srgbClr val="020618"/>
                </a:solidFill>
              </a:rPr>
              <a:t>이번 프로젝트를 진행하면서 단순히 기능이 동작하는 웹페이지를 만드는 것보다, 사용자가 정보를 어떻게 보고 어떤 순서로 행동하는지가 더 중요하다는 점을 배웠다. 처음에는 TODO, 습관, 일기, AI 기능을 각각 구현하는 데 집중했지만, 수정 과정에서 캘린더의 점 표시, 완료 항목의 위치, 버튼의 우측 정렬처럼 작은 UI 차이가 사용성에 큰 영향을 준다는 것을 확인했다. 특히 AI를 활용할 때도 답변을 그대로 적용하기보다 과제 조건, 사이트맵, 보안 기준에 맞게 채택하거나 수정하는 판단이 필요했다. LIFE CYCLE은 서버 없이 localStorage만으로 개인 일정과 기록을 관리하고, 필요한 순간에만 API 키를 입력해 AI 조언을 받는 구조로 완성했다. 이 과정을 통해 프론트엔드 웹디자인은 코드 구현과 디자인 판단, 사용자 흐름 검증이 함께 이루어져야 한다는 점을 배웠다.</a:t>
            </a:r>
          </a:p>
        </p:txBody>
      </p:sp>
      <p:sp>
        <p:nvSpPr>
          <p:cNvPr id="7" name="">
            <a:extLst xmlns:a="http://schemas.openxmlformats.org/drawingml/2006/main">
              <a:ext uri="{FF2B5EF4-FFF2-40B4-BE49-F238E27FC236}">
                <a16:creationId xmlns:a16="http://schemas.microsoft.com/office/drawing/2014/main" id="{20F7C10F-E033-45AB-B8F3-79D974D192FB}"/>
              </a:ext>
            </a:extLst>
          </p:cNvPr>
          <p:cNvSpPr>
            <a:spLocks xmlns:a="http://schemas.openxmlformats.org/drawingml/2006/main" noGrp="1"/>
          </p:cNvSpPr>
          <p:nvPr/>
        </p:nvSpPr>
        <p:spPr>
          <a:xfrm xmlns:a="http://schemas.openxmlformats.org/drawingml/2006/main">
            <a:off x="8858250" y="6496050"/>
            <a:ext cx="2647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90A1B9"/>
                </a:solidFill>
              </a:defRPr>
            </a:pPr>
            <a:r>
              <a:rPr sz="900" b="0">
                <a:solidFill>
                  <a:srgbClr val="90A1B9"/>
                </a:solidFill>
              </a:rPr>
              <a:t>웹디자인 프로젝트 보고서 | 18</a:t>
            </a:r>
          </a:p>
        </p:txBody>
      </p:sp>
    </p:spTree>
    <p:extLst>
      <p:ext uri="{BB962C8B-B14F-4D97-AF65-F5344CB8AC3E}">
        <p14:creationId xmlns:p14="http://schemas.microsoft.com/office/powerpoint/2010/main" val="11543224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2026-06-23T12:28:15.1800000Z</dcterms:created>
  <dcterms:modified xsi:type="dcterms:W3CDTF">2026-06-23T12:28:15.1810000Z</dcterms:modified>
</coreProperties>
</file>